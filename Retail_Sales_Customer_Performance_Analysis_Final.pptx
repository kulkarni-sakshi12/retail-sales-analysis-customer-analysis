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C6A574-5688-40BB-AD79-9BB1BAA66A64}" type="doc">
      <dgm:prSet loTypeId="urn:microsoft.com/office/officeart/2005/8/layout/default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71E6311-3390-4F22-B79C-83FF1B9065C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Inspected the dataset structure and data types.</a:t>
          </a:r>
        </a:p>
      </dgm:t>
    </dgm:pt>
    <dgm:pt modelId="{84D85B86-B317-49DD-8CBC-413A9F413E72}" type="parTrans" cxnId="{6FCDD5E6-5747-4B5F-881C-B5BAE87E0373}">
      <dgm:prSet/>
      <dgm:spPr/>
      <dgm:t>
        <a:bodyPr/>
        <a:lstStyle/>
        <a:p>
          <a:endParaRPr lang="en-US"/>
        </a:p>
      </dgm:t>
    </dgm:pt>
    <dgm:pt modelId="{944F4EC5-6B08-4C55-A20C-A977B034181F}" type="sibTrans" cxnId="{6FCDD5E6-5747-4B5F-881C-B5BAE87E0373}">
      <dgm:prSet/>
      <dgm:spPr/>
      <dgm:t>
        <a:bodyPr/>
        <a:lstStyle/>
        <a:p>
          <a:endParaRPr lang="en-US"/>
        </a:p>
      </dgm:t>
    </dgm:pt>
    <dgm:pt modelId="{0FDD899F-5CC8-4B71-8E93-BF7DA447BD57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Checked for missing values and duplicate records</a:t>
          </a:r>
        </a:p>
      </dgm:t>
    </dgm:pt>
    <dgm:pt modelId="{B41D9376-BCFA-4FAE-8822-54C2B4E0A105}" type="parTrans" cxnId="{E04DB838-37C6-4F11-AA2D-532FB25752D6}">
      <dgm:prSet/>
      <dgm:spPr/>
      <dgm:t>
        <a:bodyPr/>
        <a:lstStyle/>
        <a:p>
          <a:endParaRPr lang="en-US"/>
        </a:p>
      </dgm:t>
    </dgm:pt>
    <dgm:pt modelId="{7911BC09-C0BC-47E6-A700-DF84640FCC39}" type="sibTrans" cxnId="{E04DB838-37C6-4F11-AA2D-532FB25752D6}">
      <dgm:prSet/>
      <dgm:spPr/>
      <dgm:t>
        <a:bodyPr/>
        <a:lstStyle/>
        <a:p>
          <a:endParaRPr lang="en-US"/>
        </a:p>
      </dgm:t>
    </dgm:pt>
    <dgm:pt modelId="{6FEF5AC5-C34E-4E7C-AE0D-F258DF1ABA0E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Verified column names and corrected data types where required. </a:t>
          </a:r>
        </a:p>
      </dgm:t>
    </dgm:pt>
    <dgm:pt modelId="{D0CE842B-D79C-4416-819B-EF3800E73639}" type="parTrans" cxnId="{FADD80F5-A536-44F8-A0A4-531FFE8C5C91}">
      <dgm:prSet/>
      <dgm:spPr/>
      <dgm:t>
        <a:bodyPr/>
        <a:lstStyle/>
        <a:p>
          <a:endParaRPr lang="en-US"/>
        </a:p>
      </dgm:t>
    </dgm:pt>
    <dgm:pt modelId="{BD8D2C19-A775-47BF-B2A4-344EEEB43670}" type="sibTrans" cxnId="{FADD80F5-A536-44F8-A0A4-531FFE8C5C91}">
      <dgm:prSet/>
      <dgm:spPr/>
      <dgm:t>
        <a:bodyPr/>
        <a:lstStyle/>
        <a:p>
          <a:endParaRPr lang="en-US"/>
        </a:p>
      </dgm:t>
    </dgm:pt>
    <dgm:pt modelId="{75769E4A-A696-4F08-9606-A295FD43579F}">
      <dgm:prSet custT="1"/>
      <dgm:spPr/>
      <dgm:t>
        <a:bodyPr/>
        <a:lstStyle/>
        <a:p>
          <a:endParaRPr lang="en-US" sz="2400" b="1"/>
        </a:p>
        <a:p>
          <a:r>
            <a:rPr lang="en-US" sz="2400" b="1"/>
            <a:t>Data Cleaning</a:t>
          </a:r>
          <a:r>
            <a:rPr lang="en-US" sz="2100"/>
            <a:t>
</a:t>
          </a:r>
          <a:endParaRPr lang="en-US" sz="2100" dirty="0"/>
        </a:p>
      </dgm:t>
    </dgm:pt>
    <dgm:pt modelId="{DE9DA9BC-7BDF-4F77-AABC-64B27F09301B}" type="parTrans" cxnId="{872F1870-F1F4-41CA-A8A6-2AB0CC2605C5}">
      <dgm:prSet/>
      <dgm:spPr/>
      <dgm:t>
        <a:bodyPr/>
        <a:lstStyle/>
        <a:p>
          <a:endParaRPr lang="en-US"/>
        </a:p>
      </dgm:t>
    </dgm:pt>
    <dgm:pt modelId="{2DBB7D3F-DAE4-4173-B728-D536344FC481}" type="sibTrans" cxnId="{872F1870-F1F4-41CA-A8A6-2AB0CC2605C5}">
      <dgm:prSet/>
      <dgm:spPr/>
      <dgm:t>
        <a:bodyPr/>
        <a:lstStyle/>
        <a:p>
          <a:endParaRPr lang="en-US"/>
        </a:p>
      </dgm:t>
    </dgm:pt>
    <dgm:pt modelId="{DDF82336-FB12-4617-8C4E-552BC3778AE2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Created additional analytical features, including Year, Month, Month Name, and Quarter</a:t>
          </a:r>
        </a:p>
      </dgm:t>
    </dgm:pt>
    <dgm:pt modelId="{40BB0B5C-CC04-4442-956A-08C235C55933}" type="parTrans" cxnId="{5AD0EFB1-0B30-43CC-B806-AE8039745099}">
      <dgm:prSet/>
      <dgm:spPr/>
      <dgm:t>
        <a:bodyPr/>
        <a:lstStyle/>
        <a:p>
          <a:endParaRPr lang="en-US"/>
        </a:p>
      </dgm:t>
    </dgm:pt>
    <dgm:pt modelId="{F905A346-5220-47DF-AA76-A2F2CFD4B1FB}" type="sibTrans" cxnId="{5AD0EFB1-0B30-43CC-B806-AE8039745099}">
      <dgm:prSet/>
      <dgm:spPr/>
      <dgm:t>
        <a:bodyPr/>
        <a:lstStyle/>
        <a:p>
          <a:endParaRPr lang="en-US"/>
        </a:p>
      </dgm:t>
    </dgm:pt>
    <dgm:pt modelId="{455DD978-F4CA-49C9-8C00-643F68C9E92A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Prepared the transformed dataset for further analysis.</a:t>
          </a:r>
        </a:p>
      </dgm:t>
    </dgm:pt>
    <dgm:pt modelId="{C66AD835-CF32-4E5D-82DB-F4053C6653F3}" type="parTrans" cxnId="{F3AD822D-240B-498F-9106-0E79041F3F98}">
      <dgm:prSet/>
      <dgm:spPr/>
      <dgm:t>
        <a:bodyPr/>
        <a:lstStyle/>
        <a:p>
          <a:endParaRPr lang="en-US"/>
        </a:p>
      </dgm:t>
    </dgm:pt>
    <dgm:pt modelId="{2C5D23A4-D350-4178-9FB2-030BCCA8008A}" type="sibTrans" cxnId="{F3AD822D-240B-498F-9106-0E79041F3F98}">
      <dgm:prSet/>
      <dgm:spPr/>
      <dgm:t>
        <a:bodyPr/>
        <a:lstStyle/>
        <a:p>
          <a:endParaRPr lang="en-US"/>
        </a:p>
      </dgm:t>
    </dgm:pt>
    <dgm:pt modelId="{DF34B146-6DCE-4945-89F6-103D378F8D91}" type="pres">
      <dgm:prSet presAssocID="{38C6A574-5688-40BB-AD79-9BB1BAA66A64}" presName="diagram" presStyleCnt="0">
        <dgm:presLayoutVars>
          <dgm:dir/>
          <dgm:resizeHandles val="exact"/>
        </dgm:presLayoutVars>
      </dgm:prSet>
      <dgm:spPr/>
    </dgm:pt>
    <dgm:pt modelId="{CC387BD4-A934-4905-9A92-97F82CE5603C}" type="pres">
      <dgm:prSet presAssocID="{571E6311-3390-4F22-B79C-83FF1B9065C1}" presName="node" presStyleLbl="node1" presStyleIdx="0" presStyleCnt="6" custScaleY="59478" custLinFactNeighborX="-26" custLinFactNeighborY="33638">
        <dgm:presLayoutVars>
          <dgm:bulletEnabled val="1"/>
        </dgm:presLayoutVars>
      </dgm:prSet>
      <dgm:spPr/>
    </dgm:pt>
    <dgm:pt modelId="{D7FE525C-5021-4F39-89D7-518702653814}" type="pres">
      <dgm:prSet presAssocID="{944F4EC5-6B08-4C55-A20C-A977B034181F}" presName="sibTrans" presStyleCnt="0"/>
      <dgm:spPr/>
    </dgm:pt>
    <dgm:pt modelId="{FECBCA83-382D-4023-88BD-91FAB9ABD74E}" type="pres">
      <dgm:prSet presAssocID="{0FDD899F-5CC8-4B71-8E93-BF7DA447BD57}" presName="node" presStyleLbl="node1" presStyleIdx="1" presStyleCnt="6" custScaleY="63351" custLinFactNeighborX="-4367" custLinFactNeighborY="33638">
        <dgm:presLayoutVars>
          <dgm:bulletEnabled val="1"/>
        </dgm:presLayoutVars>
      </dgm:prSet>
      <dgm:spPr/>
    </dgm:pt>
    <dgm:pt modelId="{D8511857-D4CE-4AB1-88CD-0D74FA65C3C1}" type="pres">
      <dgm:prSet presAssocID="{7911BC09-C0BC-47E6-A700-DF84640FCC39}" presName="sibTrans" presStyleCnt="0"/>
      <dgm:spPr/>
    </dgm:pt>
    <dgm:pt modelId="{8F4990F4-7427-4D69-B7CA-F0020F9D073D}" type="pres">
      <dgm:prSet presAssocID="{6FEF5AC5-C34E-4E7C-AE0D-F258DF1ABA0E}" presName="node" presStyleLbl="node1" presStyleIdx="2" presStyleCnt="6" custScaleY="67146" custLinFactNeighborX="43530" custLinFactNeighborY="89458">
        <dgm:presLayoutVars>
          <dgm:bulletEnabled val="1"/>
        </dgm:presLayoutVars>
      </dgm:prSet>
      <dgm:spPr/>
    </dgm:pt>
    <dgm:pt modelId="{C5F7BF48-81E5-4C13-AB77-51807202C624}" type="pres">
      <dgm:prSet presAssocID="{BD8D2C19-A775-47BF-B2A4-344EEEB43670}" presName="sibTrans" presStyleCnt="0"/>
      <dgm:spPr/>
    </dgm:pt>
    <dgm:pt modelId="{F113CADD-5DD7-4AC6-A99C-EA63D5258F8F}" type="pres">
      <dgm:prSet presAssocID="{DDF82336-FB12-4617-8C4E-552BC3778AE2}" presName="node" presStyleLbl="node1" presStyleIdx="3" presStyleCnt="6" custScaleY="57370" custLinFactNeighborX="-4366" custLinFactNeighborY="21100">
        <dgm:presLayoutVars>
          <dgm:bulletEnabled val="1"/>
        </dgm:presLayoutVars>
      </dgm:prSet>
      <dgm:spPr/>
    </dgm:pt>
    <dgm:pt modelId="{9B2CD706-ABC7-4ADB-8A48-8DB998E1CC89}" type="pres">
      <dgm:prSet presAssocID="{F905A346-5220-47DF-AA76-A2F2CFD4B1FB}" presName="sibTrans" presStyleCnt="0"/>
      <dgm:spPr/>
    </dgm:pt>
    <dgm:pt modelId="{4F298ED7-CA29-45A2-83D1-EC6894F56838}" type="pres">
      <dgm:prSet presAssocID="{455DD978-F4CA-49C9-8C00-643F68C9E92A}" presName="node" presStyleLbl="node1" presStyleIdx="4" presStyleCnt="6" custScaleY="53813" custLinFactNeighborX="-1124" custLinFactNeighborY="-57754">
        <dgm:presLayoutVars>
          <dgm:bulletEnabled val="1"/>
        </dgm:presLayoutVars>
      </dgm:prSet>
      <dgm:spPr/>
    </dgm:pt>
    <dgm:pt modelId="{F07F08C4-728E-4ED4-92B8-6787847F868D}" type="pres">
      <dgm:prSet presAssocID="{2C5D23A4-D350-4178-9FB2-030BCCA8008A}" presName="sibTrans" presStyleCnt="0"/>
      <dgm:spPr/>
    </dgm:pt>
    <dgm:pt modelId="{4E3C985D-01A9-4515-B53D-78377138BAFB}" type="pres">
      <dgm:prSet presAssocID="{75769E4A-A696-4F08-9606-A295FD43579F}" presName="node" presStyleLbl="node1" presStyleIdx="5" presStyleCnt="6" custScaleY="50139" custLinFactY="-97456" custLinFactNeighborX="-61401" custLinFactNeighborY="-100000">
        <dgm:presLayoutVars>
          <dgm:bulletEnabled val="1"/>
        </dgm:presLayoutVars>
      </dgm:prSet>
      <dgm:spPr/>
    </dgm:pt>
  </dgm:ptLst>
  <dgm:cxnLst>
    <dgm:cxn modelId="{F3AD822D-240B-498F-9106-0E79041F3F98}" srcId="{38C6A574-5688-40BB-AD79-9BB1BAA66A64}" destId="{455DD978-F4CA-49C9-8C00-643F68C9E92A}" srcOrd="4" destOrd="0" parTransId="{C66AD835-CF32-4E5D-82DB-F4053C6653F3}" sibTransId="{2C5D23A4-D350-4178-9FB2-030BCCA8008A}"/>
    <dgm:cxn modelId="{E04DB838-37C6-4F11-AA2D-532FB25752D6}" srcId="{38C6A574-5688-40BB-AD79-9BB1BAA66A64}" destId="{0FDD899F-5CC8-4B71-8E93-BF7DA447BD57}" srcOrd="1" destOrd="0" parTransId="{B41D9376-BCFA-4FAE-8822-54C2B4E0A105}" sibTransId="{7911BC09-C0BC-47E6-A700-DF84640FCC39}"/>
    <dgm:cxn modelId="{7699A563-BBC4-4F1F-9C6E-FBBFA4F49BCE}" type="presOf" srcId="{571E6311-3390-4F22-B79C-83FF1B9065C1}" destId="{CC387BD4-A934-4905-9A92-97F82CE5603C}" srcOrd="0" destOrd="0" presId="urn:microsoft.com/office/officeart/2005/8/layout/default"/>
    <dgm:cxn modelId="{7AB7BA44-0C1B-4746-ADE9-2E686AA59EBD}" type="presOf" srcId="{75769E4A-A696-4F08-9606-A295FD43579F}" destId="{4E3C985D-01A9-4515-B53D-78377138BAFB}" srcOrd="0" destOrd="0" presId="urn:microsoft.com/office/officeart/2005/8/layout/default"/>
    <dgm:cxn modelId="{872F1870-F1F4-41CA-A8A6-2AB0CC2605C5}" srcId="{38C6A574-5688-40BB-AD79-9BB1BAA66A64}" destId="{75769E4A-A696-4F08-9606-A295FD43579F}" srcOrd="5" destOrd="0" parTransId="{DE9DA9BC-7BDF-4F77-AABC-64B27F09301B}" sibTransId="{2DBB7D3F-DAE4-4173-B728-D536344FC481}"/>
    <dgm:cxn modelId="{1A482992-8D81-4DB2-A13C-5AE535A55CFF}" type="presOf" srcId="{38C6A574-5688-40BB-AD79-9BB1BAA66A64}" destId="{DF34B146-6DCE-4945-89F6-103D378F8D91}" srcOrd="0" destOrd="0" presId="urn:microsoft.com/office/officeart/2005/8/layout/default"/>
    <dgm:cxn modelId="{58DE2CA0-E4A5-4C08-ACFB-C89A11B36D3B}" type="presOf" srcId="{DDF82336-FB12-4617-8C4E-552BC3778AE2}" destId="{F113CADD-5DD7-4AC6-A99C-EA63D5258F8F}" srcOrd="0" destOrd="0" presId="urn:microsoft.com/office/officeart/2005/8/layout/default"/>
    <dgm:cxn modelId="{5B8154A4-34F9-4748-97D6-BADA8897F2FB}" type="presOf" srcId="{6FEF5AC5-C34E-4E7C-AE0D-F258DF1ABA0E}" destId="{8F4990F4-7427-4D69-B7CA-F0020F9D073D}" srcOrd="0" destOrd="0" presId="urn:microsoft.com/office/officeart/2005/8/layout/default"/>
    <dgm:cxn modelId="{5AD0EFB1-0B30-43CC-B806-AE8039745099}" srcId="{38C6A574-5688-40BB-AD79-9BB1BAA66A64}" destId="{DDF82336-FB12-4617-8C4E-552BC3778AE2}" srcOrd="3" destOrd="0" parTransId="{40BB0B5C-CC04-4442-956A-08C235C55933}" sibTransId="{F905A346-5220-47DF-AA76-A2F2CFD4B1FB}"/>
    <dgm:cxn modelId="{D02257C1-0EE8-4DC2-BD95-194BD02CF265}" type="presOf" srcId="{455DD978-F4CA-49C9-8C00-643F68C9E92A}" destId="{4F298ED7-CA29-45A2-83D1-EC6894F56838}" srcOrd="0" destOrd="0" presId="urn:microsoft.com/office/officeart/2005/8/layout/default"/>
    <dgm:cxn modelId="{6FCDD5E6-5747-4B5F-881C-B5BAE87E0373}" srcId="{38C6A574-5688-40BB-AD79-9BB1BAA66A64}" destId="{571E6311-3390-4F22-B79C-83FF1B9065C1}" srcOrd="0" destOrd="0" parTransId="{84D85B86-B317-49DD-8CBC-413A9F413E72}" sibTransId="{944F4EC5-6B08-4C55-A20C-A977B034181F}"/>
    <dgm:cxn modelId="{A5F7ADEB-8545-435B-8140-37E7E1A5F0B5}" type="presOf" srcId="{0FDD899F-5CC8-4B71-8E93-BF7DA447BD57}" destId="{FECBCA83-382D-4023-88BD-91FAB9ABD74E}" srcOrd="0" destOrd="0" presId="urn:microsoft.com/office/officeart/2005/8/layout/default"/>
    <dgm:cxn modelId="{FADD80F5-A536-44F8-A0A4-531FFE8C5C91}" srcId="{38C6A574-5688-40BB-AD79-9BB1BAA66A64}" destId="{6FEF5AC5-C34E-4E7C-AE0D-F258DF1ABA0E}" srcOrd="2" destOrd="0" parTransId="{D0CE842B-D79C-4416-819B-EF3800E73639}" sibTransId="{BD8D2C19-A775-47BF-B2A4-344EEEB43670}"/>
    <dgm:cxn modelId="{67E203B2-FE90-4644-865B-FC36C59F8C82}" type="presParOf" srcId="{DF34B146-6DCE-4945-89F6-103D378F8D91}" destId="{CC387BD4-A934-4905-9A92-97F82CE5603C}" srcOrd="0" destOrd="0" presId="urn:microsoft.com/office/officeart/2005/8/layout/default"/>
    <dgm:cxn modelId="{A4DF60B9-D563-41AA-BCE5-DCDCAB24A966}" type="presParOf" srcId="{DF34B146-6DCE-4945-89F6-103D378F8D91}" destId="{D7FE525C-5021-4F39-89D7-518702653814}" srcOrd="1" destOrd="0" presId="urn:microsoft.com/office/officeart/2005/8/layout/default"/>
    <dgm:cxn modelId="{FC256EBA-2508-419B-A50B-59EFE16DDED0}" type="presParOf" srcId="{DF34B146-6DCE-4945-89F6-103D378F8D91}" destId="{FECBCA83-382D-4023-88BD-91FAB9ABD74E}" srcOrd="2" destOrd="0" presId="urn:microsoft.com/office/officeart/2005/8/layout/default"/>
    <dgm:cxn modelId="{FA8532CA-0134-4D50-9D89-99EF84CDDBE2}" type="presParOf" srcId="{DF34B146-6DCE-4945-89F6-103D378F8D91}" destId="{D8511857-D4CE-4AB1-88CD-0D74FA65C3C1}" srcOrd="3" destOrd="0" presId="urn:microsoft.com/office/officeart/2005/8/layout/default"/>
    <dgm:cxn modelId="{92407B7D-E0FA-4B80-8C9A-C67735C0B81D}" type="presParOf" srcId="{DF34B146-6DCE-4945-89F6-103D378F8D91}" destId="{8F4990F4-7427-4D69-B7CA-F0020F9D073D}" srcOrd="4" destOrd="0" presId="urn:microsoft.com/office/officeart/2005/8/layout/default"/>
    <dgm:cxn modelId="{E27412BA-EA5C-4C67-925E-B99CA30B1AEE}" type="presParOf" srcId="{DF34B146-6DCE-4945-89F6-103D378F8D91}" destId="{C5F7BF48-81E5-4C13-AB77-51807202C624}" srcOrd="5" destOrd="0" presId="urn:microsoft.com/office/officeart/2005/8/layout/default"/>
    <dgm:cxn modelId="{3B13DFC1-9E47-4FC9-A2A6-0C9D047390F0}" type="presParOf" srcId="{DF34B146-6DCE-4945-89F6-103D378F8D91}" destId="{F113CADD-5DD7-4AC6-A99C-EA63D5258F8F}" srcOrd="6" destOrd="0" presId="urn:microsoft.com/office/officeart/2005/8/layout/default"/>
    <dgm:cxn modelId="{1D0725D7-C80A-4F8C-A4BA-EF623ED3ACC9}" type="presParOf" srcId="{DF34B146-6DCE-4945-89F6-103D378F8D91}" destId="{9B2CD706-ABC7-4ADB-8A48-8DB998E1CC89}" srcOrd="7" destOrd="0" presId="urn:microsoft.com/office/officeart/2005/8/layout/default"/>
    <dgm:cxn modelId="{3DCFBD34-F88E-42BC-939B-F8ED0D327275}" type="presParOf" srcId="{DF34B146-6DCE-4945-89F6-103D378F8D91}" destId="{4F298ED7-CA29-45A2-83D1-EC6894F56838}" srcOrd="8" destOrd="0" presId="urn:microsoft.com/office/officeart/2005/8/layout/default"/>
    <dgm:cxn modelId="{8B7BC0B6-2D03-4898-BC61-B18A20B7EF35}" type="presParOf" srcId="{DF34B146-6DCE-4945-89F6-103D378F8D91}" destId="{F07F08C4-728E-4ED4-92B8-6787847F868D}" srcOrd="9" destOrd="0" presId="urn:microsoft.com/office/officeart/2005/8/layout/default"/>
    <dgm:cxn modelId="{AC386DBE-D23C-4403-94EE-55961D56A2D4}" type="presParOf" srcId="{DF34B146-6DCE-4945-89F6-103D378F8D91}" destId="{4E3C985D-01A9-4515-B53D-78377138BAF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C6A574-5688-40BB-AD79-9BB1BAA66A64}" type="doc">
      <dgm:prSet loTypeId="urn:microsoft.com/office/officeart/2005/8/layout/default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71E6311-3390-4F22-B79C-83FF1B9065C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Analyzed sales and profit performance across product categories.</a:t>
          </a:r>
        </a:p>
      </dgm:t>
    </dgm:pt>
    <dgm:pt modelId="{84D85B86-B317-49DD-8CBC-413A9F413E72}" type="parTrans" cxnId="{6FCDD5E6-5747-4B5F-881C-B5BAE87E0373}">
      <dgm:prSet/>
      <dgm:spPr/>
      <dgm:t>
        <a:bodyPr/>
        <a:lstStyle/>
        <a:p>
          <a:endParaRPr lang="en-US"/>
        </a:p>
      </dgm:t>
    </dgm:pt>
    <dgm:pt modelId="{944F4EC5-6B08-4C55-A20C-A977B034181F}" type="sibTrans" cxnId="{6FCDD5E6-5747-4B5F-881C-B5BAE87E0373}">
      <dgm:prSet/>
      <dgm:spPr/>
      <dgm:t>
        <a:bodyPr/>
        <a:lstStyle/>
        <a:p>
          <a:endParaRPr lang="en-US"/>
        </a:p>
      </dgm:t>
    </dgm:pt>
    <dgm:pt modelId="{0FDD899F-5CC8-4B71-8E93-BF7DA447BD57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Examined monthly sales trends.</a:t>
          </a:r>
        </a:p>
      </dgm:t>
    </dgm:pt>
    <dgm:pt modelId="{B41D9376-BCFA-4FAE-8822-54C2B4E0A105}" type="parTrans" cxnId="{E04DB838-37C6-4F11-AA2D-532FB25752D6}">
      <dgm:prSet/>
      <dgm:spPr/>
      <dgm:t>
        <a:bodyPr/>
        <a:lstStyle/>
        <a:p>
          <a:endParaRPr lang="en-US"/>
        </a:p>
      </dgm:t>
    </dgm:pt>
    <dgm:pt modelId="{7911BC09-C0BC-47E6-A700-DF84640FCC39}" type="sibTrans" cxnId="{E04DB838-37C6-4F11-AA2D-532FB25752D6}">
      <dgm:prSet/>
      <dgm:spPr/>
      <dgm:t>
        <a:bodyPr/>
        <a:lstStyle/>
        <a:p>
          <a:endParaRPr lang="en-US"/>
        </a:p>
      </dgm:t>
    </dgm:pt>
    <dgm:pt modelId="{6FEF5AC5-C34E-4E7C-AE0D-F258DF1ABA0E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Evaluated profit margins across product categories to identify areas for profitability improvement. </a:t>
          </a:r>
        </a:p>
      </dgm:t>
    </dgm:pt>
    <dgm:pt modelId="{D0CE842B-D79C-4416-819B-EF3800E73639}" type="parTrans" cxnId="{FADD80F5-A536-44F8-A0A4-531FFE8C5C91}">
      <dgm:prSet/>
      <dgm:spPr/>
      <dgm:t>
        <a:bodyPr/>
        <a:lstStyle/>
        <a:p>
          <a:endParaRPr lang="en-US"/>
        </a:p>
      </dgm:t>
    </dgm:pt>
    <dgm:pt modelId="{BD8D2C19-A775-47BF-B2A4-344EEEB43670}" type="sibTrans" cxnId="{FADD80F5-A536-44F8-A0A4-531FFE8C5C91}">
      <dgm:prSet/>
      <dgm:spPr/>
      <dgm:t>
        <a:bodyPr/>
        <a:lstStyle/>
        <a:p>
          <a:endParaRPr lang="en-US"/>
        </a:p>
      </dgm:t>
    </dgm:pt>
    <dgm:pt modelId="{75769E4A-A696-4F08-9606-A295FD43579F}">
      <dgm:prSet custT="1"/>
      <dgm:spPr/>
      <dgm:t>
        <a:bodyPr/>
        <a:lstStyle/>
        <a:p>
          <a:endParaRPr lang="en-US" sz="2400" b="1" dirty="0"/>
        </a:p>
        <a:p>
          <a:r>
            <a:rPr lang="en-US" sz="2400" b="1" dirty="0"/>
            <a:t>Exploratory Data Analysis (EDA)</a:t>
          </a:r>
          <a:r>
            <a:rPr lang="en-US" sz="2100" dirty="0"/>
            <a:t>
</a:t>
          </a:r>
        </a:p>
      </dgm:t>
    </dgm:pt>
    <dgm:pt modelId="{DE9DA9BC-7BDF-4F77-AABC-64B27F09301B}" type="parTrans" cxnId="{872F1870-F1F4-41CA-A8A6-2AB0CC2605C5}">
      <dgm:prSet/>
      <dgm:spPr/>
      <dgm:t>
        <a:bodyPr/>
        <a:lstStyle/>
        <a:p>
          <a:endParaRPr lang="en-US"/>
        </a:p>
      </dgm:t>
    </dgm:pt>
    <dgm:pt modelId="{2DBB7D3F-DAE4-4173-B728-D536344FC481}" type="sibTrans" cxnId="{872F1870-F1F4-41CA-A8A6-2AB0CC2605C5}">
      <dgm:prSet/>
      <dgm:spPr/>
      <dgm:t>
        <a:bodyPr/>
        <a:lstStyle/>
        <a:p>
          <a:endParaRPr lang="en-US"/>
        </a:p>
      </dgm:t>
    </dgm:pt>
    <dgm:pt modelId="{DDF82336-FB12-4617-8C4E-552BC3778AE2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Compared sales performance across regions.</a:t>
          </a:r>
        </a:p>
      </dgm:t>
    </dgm:pt>
    <dgm:pt modelId="{40BB0B5C-CC04-4442-956A-08C235C55933}" type="parTrans" cxnId="{5AD0EFB1-0B30-43CC-B806-AE8039745099}">
      <dgm:prSet/>
      <dgm:spPr/>
      <dgm:t>
        <a:bodyPr/>
        <a:lstStyle/>
        <a:p>
          <a:endParaRPr lang="en-US"/>
        </a:p>
      </dgm:t>
    </dgm:pt>
    <dgm:pt modelId="{F905A346-5220-47DF-AA76-A2F2CFD4B1FB}" type="sibTrans" cxnId="{5AD0EFB1-0B30-43CC-B806-AE8039745099}">
      <dgm:prSet/>
      <dgm:spPr/>
      <dgm:t>
        <a:bodyPr/>
        <a:lstStyle/>
        <a:p>
          <a:endParaRPr lang="en-US"/>
        </a:p>
      </dgm:t>
    </dgm:pt>
    <dgm:pt modelId="{455DD978-F4CA-49C9-8C00-643F68C9E92A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Identified top-performing customers and products.</a:t>
          </a:r>
        </a:p>
      </dgm:t>
    </dgm:pt>
    <dgm:pt modelId="{C66AD835-CF32-4E5D-82DB-F4053C6653F3}" type="parTrans" cxnId="{F3AD822D-240B-498F-9106-0E79041F3F98}">
      <dgm:prSet/>
      <dgm:spPr/>
      <dgm:t>
        <a:bodyPr/>
        <a:lstStyle/>
        <a:p>
          <a:endParaRPr lang="en-US"/>
        </a:p>
      </dgm:t>
    </dgm:pt>
    <dgm:pt modelId="{2C5D23A4-D350-4178-9FB2-030BCCA8008A}" type="sibTrans" cxnId="{F3AD822D-240B-498F-9106-0E79041F3F98}">
      <dgm:prSet/>
      <dgm:spPr/>
      <dgm:t>
        <a:bodyPr/>
        <a:lstStyle/>
        <a:p>
          <a:endParaRPr lang="en-US"/>
        </a:p>
      </dgm:t>
    </dgm:pt>
    <dgm:pt modelId="{DF34B146-6DCE-4945-89F6-103D378F8D91}" type="pres">
      <dgm:prSet presAssocID="{38C6A574-5688-40BB-AD79-9BB1BAA66A64}" presName="diagram" presStyleCnt="0">
        <dgm:presLayoutVars>
          <dgm:dir/>
          <dgm:resizeHandles val="exact"/>
        </dgm:presLayoutVars>
      </dgm:prSet>
      <dgm:spPr/>
    </dgm:pt>
    <dgm:pt modelId="{CC387BD4-A934-4905-9A92-97F82CE5603C}" type="pres">
      <dgm:prSet presAssocID="{571E6311-3390-4F22-B79C-83FF1B9065C1}" presName="node" presStyleLbl="node1" presStyleIdx="0" presStyleCnt="6" custScaleY="59478" custLinFactNeighborX="-26" custLinFactNeighborY="33638">
        <dgm:presLayoutVars>
          <dgm:bulletEnabled val="1"/>
        </dgm:presLayoutVars>
      </dgm:prSet>
      <dgm:spPr/>
    </dgm:pt>
    <dgm:pt modelId="{D7FE525C-5021-4F39-89D7-518702653814}" type="pres">
      <dgm:prSet presAssocID="{944F4EC5-6B08-4C55-A20C-A977B034181F}" presName="sibTrans" presStyleCnt="0"/>
      <dgm:spPr/>
    </dgm:pt>
    <dgm:pt modelId="{FECBCA83-382D-4023-88BD-91FAB9ABD74E}" type="pres">
      <dgm:prSet presAssocID="{0FDD899F-5CC8-4B71-8E93-BF7DA447BD57}" presName="node" presStyleLbl="node1" presStyleIdx="1" presStyleCnt="6" custScaleY="63351" custLinFactNeighborX="-4367" custLinFactNeighborY="33638">
        <dgm:presLayoutVars>
          <dgm:bulletEnabled val="1"/>
        </dgm:presLayoutVars>
      </dgm:prSet>
      <dgm:spPr/>
    </dgm:pt>
    <dgm:pt modelId="{D8511857-D4CE-4AB1-88CD-0D74FA65C3C1}" type="pres">
      <dgm:prSet presAssocID="{7911BC09-C0BC-47E6-A700-DF84640FCC39}" presName="sibTrans" presStyleCnt="0"/>
      <dgm:spPr/>
    </dgm:pt>
    <dgm:pt modelId="{8F4990F4-7427-4D69-B7CA-F0020F9D073D}" type="pres">
      <dgm:prSet presAssocID="{6FEF5AC5-C34E-4E7C-AE0D-F258DF1ABA0E}" presName="node" presStyleLbl="node1" presStyleIdx="2" presStyleCnt="6" custScaleY="67146" custLinFactNeighborX="43530" custLinFactNeighborY="89458">
        <dgm:presLayoutVars>
          <dgm:bulletEnabled val="1"/>
        </dgm:presLayoutVars>
      </dgm:prSet>
      <dgm:spPr/>
    </dgm:pt>
    <dgm:pt modelId="{C5F7BF48-81E5-4C13-AB77-51807202C624}" type="pres">
      <dgm:prSet presAssocID="{BD8D2C19-A775-47BF-B2A4-344EEEB43670}" presName="sibTrans" presStyleCnt="0"/>
      <dgm:spPr/>
    </dgm:pt>
    <dgm:pt modelId="{F113CADD-5DD7-4AC6-A99C-EA63D5258F8F}" type="pres">
      <dgm:prSet presAssocID="{DDF82336-FB12-4617-8C4E-552BC3778AE2}" presName="node" presStyleLbl="node1" presStyleIdx="3" presStyleCnt="6" custScaleY="57370" custLinFactNeighborX="-4366" custLinFactNeighborY="21100">
        <dgm:presLayoutVars>
          <dgm:bulletEnabled val="1"/>
        </dgm:presLayoutVars>
      </dgm:prSet>
      <dgm:spPr/>
    </dgm:pt>
    <dgm:pt modelId="{9B2CD706-ABC7-4ADB-8A48-8DB998E1CC89}" type="pres">
      <dgm:prSet presAssocID="{F905A346-5220-47DF-AA76-A2F2CFD4B1FB}" presName="sibTrans" presStyleCnt="0"/>
      <dgm:spPr/>
    </dgm:pt>
    <dgm:pt modelId="{4F298ED7-CA29-45A2-83D1-EC6894F56838}" type="pres">
      <dgm:prSet presAssocID="{455DD978-F4CA-49C9-8C00-643F68C9E92A}" presName="node" presStyleLbl="node1" presStyleIdx="4" presStyleCnt="6" custScaleY="53813" custLinFactNeighborX="-1124" custLinFactNeighborY="-57754">
        <dgm:presLayoutVars>
          <dgm:bulletEnabled val="1"/>
        </dgm:presLayoutVars>
      </dgm:prSet>
      <dgm:spPr/>
    </dgm:pt>
    <dgm:pt modelId="{F07F08C4-728E-4ED4-92B8-6787847F868D}" type="pres">
      <dgm:prSet presAssocID="{2C5D23A4-D350-4178-9FB2-030BCCA8008A}" presName="sibTrans" presStyleCnt="0"/>
      <dgm:spPr/>
    </dgm:pt>
    <dgm:pt modelId="{4E3C985D-01A9-4515-B53D-78377138BAFB}" type="pres">
      <dgm:prSet presAssocID="{75769E4A-A696-4F08-9606-A295FD43579F}" presName="node" presStyleLbl="node1" presStyleIdx="5" presStyleCnt="6" custScaleY="50139" custLinFactY="-97456" custLinFactNeighborX="-61401" custLinFactNeighborY="-100000">
        <dgm:presLayoutVars>
          <dgm:bulletEnabled val="1"/>
        </dgm:presLayoutVars>
      </dgm:prSet>
      <dgm:spPr/>
    </dgm:pt>
  </dgm:ptLst>
  <dgm:cxnLst>
    <dgm:cxn modelId="{F3AD822D-240B-498F-9106-0E79041F3F98}" srcId="{38C6A574-5688-40BB-AD79-9BB1BAA66A64}" destId="{455DD978-F4CA-49C9-8C00-643F68C9E92A}" srcOrd="4" destOrd="0" parTransId="{C66AD835-CF32-4E5D-82DB-F4053C6653F3}" sibTransId="{2C5D23A4-D350-4178-9FB2-030BCCA8008A}"/>
    <dgm:cxn modelId="{E04DB838-37C6-4F11-AA2D-532FB25752D6}" srcId="{38C6A574-5688-40BB-AD79-9BB1BAA66A64}" destId="{0FDD899F-5CC8-4B71-8E93-BF7DA447BD57}" srcOrd="1" destOrd="0" parTransId="{B41D9376-BCFA-4FAE-8822-54C2B4E0A105}" sibTransId="{7911BC09-C0BC-47E6-A700-DF84640FCC39}"/>
    <dgm:cxn modelId="{7699A563-BBC4-4F1F-9C6E-FBBFA4F49BCE}" type="presOf" srcId="{571E6311-3390-4F22-B79C-83FF1B9065C1}" destId="{CC387BD4-A934-4905-9A92-97F82CE5603C}" srcOrd="0" destOrd="0" presId="urn:microsoft.com/office/officeart/2005/8/layout/default"/>
    <dgm:cxn modelId="{7AB7BA44-0C1B-4746-ADE9-2E686AA59EBD}" type="presOf" srcId="{75769E4A-A696-4F08-9606-A295FD43579F}" destId="{4E3C985D-01A9-4515-B53D-78377138BAFB}" srcOrd="0" destOrd="0" presId="urn:microsoft.com/office/officeart/2005/8/layout/default"/>
    <dgm:cxn modelId="{872F1870-F1F4-41CA-A8A6-2AB0CC2605C5}" srcId="{38C6A574-5688-40BB-AD79-9BB1BAA66A64}" destId="{75769E4A-A696-4F08-9606-A295FD43579F}" srcOrd="5" destOrd="0" parTransId="{DE9DA9BC-7BDF-4F77-AABC-64B27F09301B}" sibTransId="{2DBB7D3F-DAE4-4173-B728-D536344FC481}"/>
    <dgm:cxn modelId="{1A482992-8D81-4DB2-A13C-5AE535A55CFF}" type="presOf" srcId="{38C6A574-5688-40BB-AD79-9BB1BAA66A64}" destId="{DF34B146-6DCE-4945-89F6-103D378F8D91}" srcOrd="0" destOrd="0" presId="urn:microsoft.com/office/officeart/2005/8/layout/default"/>
    <dgm:cxn modelId="{58DE2CA0-E4A5-4C08-ACFB-C89A11B36D3B}" type="presOf" srcId="{DDF82336-FB12-4617-8C4E-552BC3778AE2}" destId="{F113CADD-5DD7-4AC6-A99C-EA63D5258F8F}" srcOrd="0" destOrd="0" presId="urn:microsoft.com/office/officeart/2005/8/layout/default"/>
    <dgm:cxn modelId="{5B8154A4-34F9-4748-97D6-BADA8897F2FB}" type="presOf" srcId="{6FEF5AC5-C34E-4E7C-AE0D-F258DF1ABA0E}" destId="{8F4990F4-7427-4D69-B7CA-F0020F9D073D}" srcOrd="0" destOrd="0" presId="urn:microsoft.com/office/officeart/2005/8/layout/default"/>
    <dgm:cxn modelId="{5AD0EFB1-0B30-43CC-B806-AE8039745099}" srcId="{38C6A574-5688-40BB-AD79-9BB1BAA66A64}" destId="{DDF82336-FB12-4617-8C4E-552BC3778AE2}" srcOrd="3" destOrd="0" parTransId="{40BB0B5C-CC04-4442-956A-08C235C55933}" sibTransId="{F905A346-5220-47DF-AA76-A2F2CFD4B1FB}"/>
    <dgm:cxn modelId="{D02257C1-0EE8-4DC2-BD95-194BD02CF265}" type="presOf" srcId="{455DD978-F4CA-49C9-8C00-643F68C9E92A}" destId="{4F298ED7-CA29-45A2-83D1-EC6894F56838}" srcOrd="0" destOrd="0" presId="urn:microsoft.com/office/officeart/2005/8/layout/default"/>
    <dgm:cxn modelId="{6FCDD5E6-5747-4B5F-881C-B5BAE87E0373}" srcId="{38C6A574-5688-40BB-AD79-9BB1BAA66A64}" destId="{571E6311-3390-4F22-B79C-83FF1B9065C1}" srcOrd="0" destOrd="0" parTransId="{84D85B86-B317-49DD-8CBC-413A9F413E72}" sibTransId="{944F4EC5-6B08-4C55-A20C-A977B034181F}"/>
    <dgm:cxn modelId="{A5F7ADEB-8545-435B-8140-37E7E1A5F0B5}" type="presOf" srcId="{0FDD899F-5CC8-4B71-8E93-BF7DA447BD57}" destId="{FECBCA83-382D-4023-88BD-91FAB9ABD74E}" srcOrd="0" destOrd="0" presId="urn:microsoft.com/office/officeart/2005/8/layout/default"/>
    <dgm:cxn modelId="{FADD80F5-A536-44F8-A0A4-531FFE8C5C91}" srcId="{38C6A574-5688-40BB-AD79-9BB1BAA66A64}" destId="{6FEF5AC5-C34E-4E7C-AE0D-F258DF1ABA0E}" srcOrd="2" destOrd="0" parTransId="{D0CE842B-D79C-4416-819B-EF3800E73639}" sibTransId="{BD8D2C19-A775-47BF-B2A4-344EEEB43670}"/>
    <dgm:cxn modelId="{67E203B2-FE90-4644-865B-FC36C59F8C82}" type="presParOf" srcId="{DF34B146-6DCE-4945-89F6-103D378F8D91}" destId="{CC387BD4-A934-4905-9A92-97F82CE5603C}" srcOrd="0" destOrd="0" presId="urn:microsoft.com/office/officeart/2005/8/layout/default"/>
    <dgm:cxn modelId="{A4DF60B9-D563-41AA-BCE5-DCDCAB24A966}" type="presParOf" srcId="{DF34B146-6DCE-4945-89F6-103D378F8D91}" destId="{D7FE525C-5021-4F39-89D7-518702653814}" srcOrd="1" destOrd="0" presId="urn:microsoft.com/office/officeart/2005/8/layout/default"/>
    <dgm:cxn modelId="{FC256EBA-2508-419B-A50B-59EFE16DDED0}" type="presParOf" srcId="{DF34B146-6DCE-4945-89F6-103D378F8D91}" destId="{FECBCA83-382D-4023-88BD-91FAB9ABD74E}" srcOrd="2" destOrd="0" presId="urn:microsoft.com/office/officeart/2005/8/layout/default"/>
    <dgm:cxn modelId="{FA8532CA-0134-4D50-9D89-99EF84CDDBE2}" type="presParOf" srcId="{DF34B146-6DCE-4945-89F6-103D378F8D91}" destId="{D8511857-D4CE-4AB1-88CD-0D74FA65C3C1}" srcOrd="3" destOrd="0" presId="urn:microsoft.com/office/officeart/2005/8/layout/default"/>
    <dgm:cxn modelId="{92407B7D-E0FA-4B80-8C9A-C67735C0B81D}" type="presParOf" srcId="{DF34B146-6DCE-4945-89F6-103D378F8D91}" destId="{8F4990F4-7427-4D69-B7CA-F0020F9D073D}" srcOrd="4" destOrd="0" presId="urn:microsoft.com/office/officeart/2005/8/layout/default"/>
    <dgm:cxn modelId="{E27412BA-EA5C-4C67-925E-B99CA30B1AEE}" type="presParOf" srcId="{DF34B146-6DCE-4945-89F6-103D378F8D91}" destId="{C5F7BF48-81E5-4C13-AB77-51807202C624}" srcOrd="5" destOrd="0" presId="urn:microsoft.com/office/officeart/2005/8/layout/default"/>
    <dgm:cxn modelId="{3B13DFC1-9E47-4FC9-A2A6-0C9D047390F0}" type="presParOf" srcId="{DF34B146-6DCE-4945-89F6-103D378F8D91}" destId="{F113CADD-5DD7-4AC6-A99C-EA63D5258F8F}" srcOrd="6" destOrd="0" presId="urn:microsoft.com/office/officeart/2005/8/layout/default"/>
    <dgm:cxn modelId="{1D0725D7-C80A-4F8C-A4BA-EF623ED3ACC9}" type="presParOf" srcId="{DF34B146-6DCE-4945-89F6-103D378F8D91}" destId="{9B2CD706-ABC7-4ADB-8A48-8DB998E1CC89}" srcOrd="7" destOrd="0" presId="urn:microsoft.com/office/officeart/2005/8/layout/default"/>
    <dgm:cxn modelId="{3DCFBD34-F88E-42BC-939B-F8ED0D327275}" type="presParOf" srcId="{DF34B146-6DCE-4945-89F6-103D378F8D91}" destId="{4F298ED7-CA29-45A2-83D1-EC6894F56838}" srcOrd="8" destOrd="0" presId="urn:microsoft.com/office/officeart/2005/8/layout/default"/>
    <dgm:cxn modelId="{8B7BC0B6-2D03-4898-BC61-B18A20B7EF35}" type="presParOf" srcId="{DF34B146-6DCE-4945-89F6-103D378F8D91}" destId="{F07F08C4-728E-4ED4-92B8-6787847F868D}" srcOrd="9" destOrd="0" presId="urn:microsoft.com/office/officeart/2005/8/layout/default"/>
    <dgm:cxn modelId="{AC386DBE-D23C-4403-94EE-55961D56A2D4}" type="presParOf" srcId="{DF34B146-6DCE-4945-89F6-103D378F8D91}" destId="{4E3C985D-01A9-4515-B53D-78377138BAF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36B4F7-FF73-4771-B2E7-E7E2643F4AB0}" type="doc">
      <dgm:prSet loTypeId="urn:microsoft.com/office/officeart/2005/8/layout/list1" loCatId="list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367F6CF-9E67-49B0-8C16-46B93EAE004F}">
      <dgm:prSet custT="1"/>
      <dgm:spPr/>
      <dgm:t>
        <a:bodyPr/>
        <a:lstStyle/>
        <a:p>
          <a:pPr algn="l"/>
          <a:r>
            <a:rPr lang="en-US" sz="2000" dirty="0"/>
            <a:t>Sales and Profit by Product Category </a:t>
          </a:r>
        </a:p>
      </dgm:t>
    </dgm:pt>
    <dgm:pt modelId="{1F324A9C-0F0F-4FBE-A071-221C4BC92889}" type="parTrans" cxnId="{2906F92D-982F-4DB3-93AB-D5C5B6C3A9D4}">
      <dgm:prSet/>
      <dgm:spPr/>
      <dgm:t>
        <a:bodyPr/>
        <a:lstStyle/>
        <a:p>
          <a:endParaRPr lang="en-US"/>
        </a:p>
      </dgm:t>
    </dgm:pt>
    <dgm:pt modelId="{8AA9A046-BA74-4EB9-9FA9-518479F66B73}" type="sibTrans" cxnId="{2906F92D-982F-4DB3-93AB-D5C5B6C3A9D4}">
      <dgm:prSet/>
      <dgm:spPr/>
      <dgm:t>
        <a:bodyPr/>
        <a:lstStyle/>
        <a:p>
          <a:endParaRPr lang="en-US"/>
        </a:p>
      </dgm:t>
    </dgm:pt>
    <dgm:pt modelId="{7CB9AEB2-CDE4-4089-8F95-5C39335C2D5E}">
      <dgm:prSet custT="1"/>
      <dgm:spPr/>
      <dgm:t>
        <a:bodyPr/>
        <a:lstStyle/>
        <a:p>
          <a:r>
            <a:rPr lang="en-US" sz="2000" dirty="0"/>
            <a:t>Monthly Sales Trends </a:t>
          </a:r>
        </a:p>
      </dgm:t>
    </dgm:pt>
    <dgm:pt modelId="{D574E8AE-E105-4DB8-986D-F8857C151E67}" type="parTrans" cxnId="{B35158B9-1E18-4C8C-B3FE-DD087E148A7F}">
      <dgm:prSet/>
      <dgm:spPr/>
      <dgm:t>
        <a:bodyPr/>
        <a:lstStyle/>
        <a:p>
          <a:endParaRPr lang="en-US"/>
        </a:p>
      </dgm:t>
    </dgm:pt>
    <dgm:pt modelId="{3E11AB6D-8952-484F-961F-7D469EF36A73}" type="sibTrans" cxnId="{B35158B9-1E18-4C8C-B3FE-DD087E148A7F}">
      <dgm:prSet/>
      <dgm:spPr/>
      <dgm:t>
        <a:bodyPr/>
        <a:lstStyle/>
        <a:p>
          <a:endParaRPr lang="en-US"/>
        </a:p>
      </dgm:t>
    </dgm:pt>
    <dgm:pt modelId="{69E33B22-DD01-4C7D-861B-6D57222E7C81}">
      <dgm:prSet custT="1"/>
      <dgm:spPr/>
      <dgm:t>
        <a:bodyPr/>
        <a:lstStyle/>
        <a:p>
          <a:r>
            <a:rPr lang="en-US" sz="2000" dirty="0"/>
            <a:t>Regional Sales Performance </a:t>
          </a:r>
        </a:p>
      </dgm:t>
    </dgm:pt>
    <dgm:pt modelId="{7D5DB412-7540-480B-B013-7B067BBFE207}" type="parTrans" cxnId="{C658D7C5-7A77-46DC-8CEC-301F9EE9B5D6}">
      <dgm:prSet/>
      <dgm:spPr/>
      <dgm:t>
        <a:bodyPr/>
        <a:lstStyle/>
        <a:p>
          <a:endParaRPr lang="en-US"/>
        </a:p>
      </dgm:t>
    </dgm:pt>
    <dgm:pt modelId="{349C0B86-E661-4553-B48E-AB6E1DD63AE1}" type="sibTrans" cxnId="{C658D7C5-7A77-46DC-8CEC-301F9EE9B5D6}">
      <dgm:prSet/>
      <dgm:spPr/>
      <dgm:t>
        <a:bodyPr/>
        <a:lstStyle/>
        <a:p>
          <a:endParaRPr lang="en-US"/>
        </a:p>
      </dgm:t>
    </dgm:pt>
    <dgm:pt modelId="{05E5A09A-60D4-4BAE-88AB-02DCB6509967}">
      <dgm:prSet custT="1"/>
      <dgm:spPr/>
      <dgm:t>
        <a:bodyPr/>
        <a:lstStyle/>
        <a:p>
          <a:r>
            <a:rPr lang="en-US" sz="2000" dirty="0"/>
            <a:t>Top-Performing Products and Customers</a:t>
          </a:r>
        </a:p>
      </dgm:t>
    </dgm:pt>
    <dgm:pt modelId="{1461BECF-0040-496A-82E2-D03E6C8FC652}" type="parTrans" cxnId="{CBEC0525-03D1-46FB-AF70-2731DEF07FD1}">
      <dgm:prSet/>
      <dgm:spPr/>
      <dgm:t>
        <a:bodyPr/>
        <a:lstStyle/>
        <a:p>
          <a:endParaRPr lang="en-US"/>
        </a:p>
      </dgm:t>
    </dgm:pt>
    <dgm:pt modelId="{1D2A3977-50A7-4C61-A0AB-55F34CBFBDAF}" type="sibTrans" cxnId="{CBEC0525-03D1-46FB-AF70-2731DEF07FD1}">
      <dgm:prSet/>
      <dgm:spPr/>
      <dgm:t>
        <a:bodyPr/>
        <a:lstStyle/>
        <a:p>
          <a:endParaRPr lang="en-US"/>
        </a:p>
      </dgm:t>
    </dgm:pt>
    <dgm:pt modelId="{76C5213D-935E-4E84-AE6E-EEC60EDC09F4}" type="pres">
      <dgm:prSet presAssocID="{1F36B4F7-FF73-4771-B2E7-E7E2643F4AB0}" presName="linear" presStyleCnt="0">
        <dgm:presLayoutVars>
          <dgm:dir/>
          <dgm:animLvl val="lvl"/>
          <dgm:resizeHandles val="exact"/>
        </dgm:presLayoutVars>
      </dgm:prSet>
      <dgm:spPr/>
    </dgm:pt>
    <dgm:pt modelId="{4FB1EA8B-C7CD-4444-958D-91505C23E030}" type="pres">
      <dgm:prSet presAssocID="{5367F6CF-9E67-49B0-8C16-46B93EAE004F}" presName="parentLin" presStyleCnt="0"/>
      <dgm:spPr/>
    </dgm:pt>
    <dgm:pt modelId="{7DFFDF0E-A1F0-4738-B3B8-90CB145D8D0E}" type="pres">
      <dgm:prSet presAssocID="{5367F6CF-9E67-49B0-8C16-46B93EAE004F}" presName="parentLeftMargin" presStyleLbl="node1" presStyleIdx="0" presStyleCnt="4"/>
      <dgm:spPr/>
    </dgm:pt>
    <dgm:pt modelId="{E552D10F-3C88-4ABF-A56E-5A4520F3B6B4}" type="pres">
      <dgm:prSet presAssocID="{5367F6CF-9E67-49B0-8C16-46B93EAE004F}" presName="parentText" presStyleLbl="node1" presStyleIdx="0" presStyleCnt="4" custLinFactNeighborX="-2660" custLinFactNeighborY="41112">
        <dgm:presLayoutVars>
          <dgm:chMax val="0"/>
          <dgm:bulletEnabled val="1"/>
        </dgm:presLayoutVars>
      </dgm:prSet>
      <dgm:spPr/>
    </dgm:pt>
    <dgm:pt modelId="{617FE962-5B84-4D5C-B045-F9CD1501B702}" type="pres">
      <dgm:prSet presAssocID="{5367F6CF-9E67-49B0-8C16-46B93EAE004F}" presName="negativeSpace" presStyleCnt="0"/>
      <dgm:spPr/>
    </dgm:pt>
    <dgm:pt modelId="{3AD30590-9127-4221-9508-95C7627F38E8}" type="pres">
      <dgm:prSet presAssocID="{5367F6CF-9E67-49B0-8C16-46B93EAE004F}" presName="childText" presStyleLbl="conFgAcc1" presStyleIdx="0" presStyleCnt="4">
        <dgm:presLayoutVars>
          <dgm:bulletEnabled val="1"/>
        </dgm:presLayoutVars>
      </dgm:prSet>
      <dgm:spPr/>
    </dgm:pt>
    <dgm:pt modelId="{4F3256DF-F1DF-4161-99F7-F1F32521C241}" type="pres">
      <dgm:prSet presAssocID="{8AA9A046-BA74-4EB9-9FA9-518479F66B73}" presName="spaceBetweenRectangles" presStyleCnt="0"/>
      <dgm:spPr/>
    </dgm:pt>
    <dgm:pt modelId="{D351300E-C8F9-45E6-98C8-452BA0C93420}" type="pres">
      <dgm:prSet presAssocID="{7CB9AEB2-CDE4-4089-8F95-5C39335C2D5E}" presName="parentLin" presStyleCnt="0"/>
      <dgm:spPr/>
    </dgm:pt>
    <dgm:pt modelId="{75240AF7-8E3A-4594-BCCB-A5F7C2ED1BEB}" type="pres">
      <dgm:prSet presAssocID="{7CB9AEB2-CDE4-4089-8F95-5C39335C2D5E}" presName="parentLeftMargin" presStyleLbl="node1" presStyleIdx="0" presStyleCnt="4"/>
      <dgm:spPr/>
    </dgm:pt>
    <dgm:pt modelId="{B7C7AA98-279A-4656-926C-85B4DA08DACC}" type="pres">
      <dgm:prSet presAssocID="{7CB9AEB2-CDE4-4089-8F95-5C39335C2D5E}" presName="parentText" presStyleLbl="node1" presStyleIdx="1" presStyleCnt="4" custLinFactNeighborX="-2660" custLinFactNeighborY="42897">
        <dgm:presLayoutVars>
          <dgm:chMax val="0"/>
          <dgm:bulletEnabled val="1"/>
        </dgm:presLayoutVars>
      </dgm:prSet>
      <dgm:spPr/>
    </dgm:pt>
    <dgm:pt modelId="{0B5F9E71-E320-41C4-A8AE-46543B703B5A}" type="pres">
      <dgm:prSet presAssocID="{7CB9AEB2-CDE4-4089-8F95-5C39335C2D5E}" presName="negativeSpace" presStyleCnt="0"/>
      <dgm:spPr/>
    </dgm:pt>
    <dgm:pt modelId="{4F6F25CB-408B-48BC-8D70-F2253B09C971}" type="pres">
      <dgm:prSet presAssocID="{7CB9AEB2-CDE4-4089-8F95-5C39335C2D5E}" presName="childText" presStyleLbl="conFgAcc1" presStyleIdx="1" presStyleCnt="4" custLinFactNeighborX="-263" custLinFactNeighborY="10260">
        <dgm:presLayoutVars>
          <dgm:bulletEnabled val="1"/>
        </dgm:presLayoutVars>
      </dgm:prSet>
      <dgm:spPr/>
    </dgm:pt>
    <dgm:pt modelId="{DBE7099C-FBCE-432B-9D93-6F9EB94AFE4D}" type="pres">
      <dgm:prSet presAssocID="{3E11AB6D-8952-484F-961F-7D469EF36A73}" presName="spaceBetweenRectangles" presStyleCnt="0"/>
      <dgm:spPr/>
    </dgm:pt>
    <dgm:pt modelId="{08943FBA-210E-4ABD-B809-B8DFA5C92D61}" type="pres">
      <dgm:prSet presAssocID="{69E33B22-DD01-4C7D-861B-6D57222E7C81}" presName="parentLin" presStyleCnt="0"/>
      <dgm:spPr/>
    </dgm:pt>
    <dgm:pt modelId="{C2D9B35E-FBA4-4488-944A-C94C48B0B578}" type="pres">
      <dgm:prSet presAssocID="{69E33B22-DD01-4C7D-861B-6D57222E7C81}" presName="parentLeftMargin" presStyleLbl="node1" presStyleIdx="1" presStyleCnt="4"/>
      <dgm:spPr/>
    </dgm:pt>
    <dgm:pt modelId="{654EFC8A-262D-4AFD-A2D5-DCE1987BC89A}" type="pres">
      <dgm:prSet presAssocID="{69E33B22-DD01-4C7D-861B-6D57222E7C81}" presName="parentText" presStyleLbl="node1" presStyleIdx="2" presStyleCnt="4" custLinFactNeighborX="-2660" custLinFactNeighborY="38720">
        <dgm:presLayoutVars>
          <dgm:chMax val="0"/>
          <dgm:bulletEnabled val="1"/>
        </dgm:presLayoutVars>
      </dgm:prSet>
      <dgm:spPr/>
    </dgm:pt>
    <dgm:pt modelId="{31F3BC10-5A9E-4ABC-B086-E4FBC83D66F1}" type="pres">
      <dgm:prSet presAssocID="{69E33B22-DD01-4C7D-861B-6D57222E7C81}" presName="negativeSpace" presStyleCnt="0"/>
      <dgm:spPr/>
    </dgm:pt>
    <dgm:pt modelId="{56E88F2F-48B7-452F-9149-E9D735D9A70C}" type="pres">
      <dgm:prSet presAssocID="{69E33B22-DD01-4C7D-861B-6D57222E7C81}" presName="childText" presStyleLbl="conFgAcc1" presStyleIdx="2" presStyleCnt="4">
        <dgm:presLayoutVars>
          <dgm:bulletEnabled val="1"/>
        </dgm:presLayoutVars>
      </dgm:prSet>
      <dgm:spPr/>
    </dgm:pt>
    <dgm:pt modelId="{4AAA8CD2-C5BE-409B-ABF6-A766A8F70295}" type="pres">
      <dgm:prSet presAssocID="{349C0B86-E661-4553-B48E-AB6E1DD63AE1}" presName="spaceBetweenRectangles" presStyleCnt="0"/>
      <dgm:spPr/>
    </dgm:pt>
    <dgm:pt modelId="{F9F586E3-D062-49C2-A7B3-DEF3690A3C4F}" type="pres">
      <dgm:prSet presAssocID="{05E5A09A-60D4-4BAE-88AB-02DCB6509967}" presName="parentLin" presStyleCnt="0"/>
      <dgm:spPr/>
    </dgm:pt>
    <dgm:pt modelId="{F3251EA7-4DAE-4DC6-9F04-04658D667E1A}" type="pres">
      <dgm:prSet presAssocID="{05E5A09A-60D4-4BAE-88AB-02DCB6509967}" presName="parentLeftMargin" presStyleLbl="node1" presStyleIdx="2" presStyleCnt="4"/>
      <dgm:spPr/>
    </dgm:pt>
    <dgm:pt modelId="{FCFEA345-9E7F-40D4-A2C2-3E973D8630B4}" type="pres">
      <dgm:prSet presAssocID="{05E5A09A-60D4-4BAE-88AB-02DCB6509967}" presName="parentText" presStyleLbl="node1" presStyleIdx="3" presStyleCnt="4" custLinFactNeighborX="-981" custLinFactNeighborY="44234">
        <dgm:presLayoutVars>
          <dgm:chMax val="0"/>
          <dgm:bulletEnabled val="1"/>
        </dgm:presLayoutVars>
      </dgm:prSet>
      <dgm:spPr/>
    </dgm:pt>
    <dgm:pt modelId="{ECAFA556-B43F-4BDA-9EDA-2FFF983C4660}" type="pres">
      <dgm:prSet presAssocID="{05E5A09A-60D4-4BAE-88AB-02DCB6509967}" presName="negativeSpace" presStyleCnt="0"/>
      <dgm:spPr/>
    </dgm:pt>
    <dgm:pt modelId="{B344A62E-674B-45DD-A6AB-2B538E3183CF}" type="pres">
      <dgm:prSet presAssocID="{05E5A09A-60D4-4BAE-88AB-02DCB650996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BEC0525-03D1-46FB-AF70-2731DEF07FD1}" srcId="{1F36B4F7-FF73-4771-B2E7-E7E2643F4AB0}" destId="{05E5A09A-60D4-4BAE-88AB-02DCB6509967}" srcOrd="3" destOrd="0" parTransId="{1461BECF-0040-496A-82E2-D03E6C8FC652}" sibTransId="{1D2A3977-50A7-4C61-A0AB-55F34CBFBDAF}"/>
    <dgm:cxn modelId="{2906F92D-982F-4DB3-93AB-D5C5B6C3A9D4}" srcId="{1F36B4F7-FF73-4771-B2E7-E7E2643F4AB0}" destId="{5367F6CF-9E67-49B0-8C16-46B93EAE004F}" srcOrd="0" destOrd="0" parTransId="{1F324A9C-0F0F-4FBE-A071-221C4BC92889}" sibTransId="{8AA9A046-BA74-4EB9-9FA9-518479F66B73}"/>
    <dgm:cxn modelId="{4A157731-57B4-48C3-8960-06AF4B79F64E}" type="presOf" srcId="{5367F6CF-9E67-49B0-8C16-46B93EAE004F}" destId="{7DFFDF0E-A1F0-4738-B3B8-90CB145D8D0E}" srcOrd="0" destOrd="0" presId="urn:microsoft.com/office/officeart/2005/8/layout/list1"/>
    <dgm:cxn modelId="{C9816638-35B5-4DF5-B776-8DD1197087A4}" type="presOf" srcId="{05E5A09A-60D4-4BAE-88AB-02DCB6509967}" destId="{FCFEA345-9E7F-40D4-A2C2-3E973D8630B4}" srcOrd="1" destOrd="0" presId="urn:microsoft.com/office/officeart/2005/8/layout/list1"/>
    <dgm:cxn modelId="{D0C5D684-53E0-420F-B0A5-BD6324DEE013}" type="presOf" srcId="{1F36B4F7-FF73-4771-B2E7-E7E2643F4AB0}" destId="{76C5213D-935E-4E84-AE6E-EEC60EDC09F4}" srcOrd="0" destOrd="0" presId="urn:microsoft.com/office/officeart/2005/8/layout/list1"/>
    <dgm:cxn modelId="{0C76C694-3CEE-4818-BC15-105D7CFFAF1C}" type="presOf" srcId="{7CB9AEB2-CDE4-4089-8F95-5C39335C2D5E}" destId="{75240AF7-8E3A-4594-BCCB-A5F7C2ED1BEB}" srcOrd="0" destOrd="0" presId="urn:microsoft.com/office/officeart/2005/8/layout/list1"/>
    <dgm:cxn modelId="{BBE6269E-B7D1-4866-A15D-8BBA8F466560}" type="presOf" srcId="{7CB9AEB2-CDE4-4089-8F95-5C39335C2D5E}" destId="{B7C7AA98-279A-4656-926C-85B4DA08DACC}" srcOrd="1" destOrd="0" presId="urn:microsoft.com/office/officeart/2005/8/layout/list1"/>
    <dgm:cxn modelId="{B35158B9-1E18-4C8C-B3FE-DD087E148A7F}" srcId="{1F36B4F7-FF73-4771-B2E7-E7E2643F4AB0}" destId="{7CB9AEB2-CDE4-4089-8F95-5C39335C2D5E}" srcOrd="1" destOrd="0" parTransId="{D574E8AE-E105-4DB8-986D-F8857C151E67}" sibTransId="{3E11AB6D-8952-484F-961F-7D469EF36A73}"/>
    <dgm:cxn modelId="{007D0FBB-01D6-4BC4-BB9B-0F3CC3EF9922}" type="presOf" srcId="{5367F6CF-9E67-49B0-8C16-46B93EAE004F}" destId="{E552D10F-3C88-4ABF-A56E-5A4520F3B6B4}" srcOrd="1" destOrd="0" presId="urn:microsoft.com/office/officeart/2005/8/layout/list1"/>
    <dgm:cxn modelId="{C658D7C5-7A77-46DC-8CEC-301F9EE9B5D6}" srcId="{1F36B4F7-FF73-4771-B2E7-E7E2643F4AB0}" destId="{69E33B22-DD01-4C7D-861B-6D57222E7C81}" srcOrd="2" destOrd="0" parTransId="{7D5DB412-7540-480B-B013-7B067BBFE207}" sibTransId="{349C0B86-E661-4553-B48E-AB6E1DD63AE1}"/>
    <dgm:cxn modelId="{441368CA-2B61-4A43-B966-C0AD4C5A1150}" type="presOf" srcId="{69E33B22-DD01-4C7D-861B-6D57222E7C81}" destId="{C2D9B35E-FBA4-4488-944A-C94C48B0B578}" srcOrd="0" destOrd="0" presId="urn:microsoft.com/office/officeart/2005/8/layout/list1"/>
    <dgm:cxn modelId="{15358BDD-64F5-4C40-9DA6-84C9990A1BE7}" type="presOf" srcId="{05E5A09A-60D4-4BAE-88AB-02DCB6509967}" destId="{F3251EA7-4DAE-4DC6-9F04-04658D667E1A}" srcOrd="0" destOrd="0" presId="urn:microsoft.com/office/officeart/2005/8/layout/list1"/>
    <dgm:cxn modelId="{58A2F3EF-2DC1-4862-9A8E-66ACB9B3D465}" type="presOf" srcId="{69E33B22-DD01-4C7D-861B-6D57222E7C81}" destId="{654EFC8A-262D-4AFD-A2D5-DCE1987BC89A}" srcOrd="1" destOrd="0" presId="urn:microsoft.com/office/officeart/2005/8/layout/list1"/>
    <dgm:cxn modelId="{13190045-8F07-44CA-8531-6761DED421A4}" type="presParOf" srcId="{76C5213D-935E-4E84-AE6E-EEC60EDC09F4}" destId="{4FB1EA8B-C7CD-4444-958D-91505C23E030}" srcOrd="0" destOrd="0" presId="urn:microsoft.com/office/officeart/2005/8/layout/list1"/>
    <dgm:cxn modelId="{36A358F4-3EE6-4D82-8E87-CA45A08D10FE}" type="presParOf" srcId="{4FB1EA8B-C7CD-4444-958D-91505C23E030}" destId="{7DFFDF0E-A1F0-4738-B3B8-90CB145D8D0E}" srcOrd="0" destOrd="0" presId="urn:microsoft.com/office/officeart/2005/8/layout/list1"/>
    <dgm:cxn modelId="{6243624D-6D7F-44BB-B92D-554167514BB6}" type="presParOf" srcId="{4FB1EA8B-C7CD-4444-958D-91505C23E030}" destId="{E552D10F-3C88-4ABF-A56E-5A4520F3B6B4}" srcOrd="1" destOrd="0" presId="urn:microsoft.com/office/officeart/2005/8/layout/list1"/>
    <dgm:cxn modelId="{C8742389-F7D9-4523-AC18-F0E7F658E264}" type="presParOf" srcId="{76C5213D-935E-4E84-AE6E-EEC60EDC09F4}" destId="{617FE962-5B84-4D5C-B045-F9CD1501B702}" srcOrd="1" destOrd="0" presId="urn:microsoft.com/office/officeart/2005/8/layout/list1"/>
    <dgm:cxn modelId="{901C531A-8E89-4E18-B3B6-8CC89A74C0F7}" type="presParOf" srcId="{76C5213D-935E-4E84-AE6E-EEC60EDC09F4}" destId="{3AD30590-9127-4221-9508-95C7627F38E8}" srcOrd="2" destOrd="0" presId="urn:microsoft.com/office/officeart/2005/8/layout/list1"/>
    <dgm:cxn modelId="{61AB9DE5-770E-4420-BC87-237AB80FDFE7}" type="presParOf" srcId="{76C5213D-935E-4E84-AE6E-EEC60EDC09F4}" destId="{4F3256DF-F1DF-4161-99F7-F1F32521C241}" srcOrd="3" destOrd="0" presId="urn:microsoft.com/office/officeart/2005/8/layout/list1"/>
    <dgm:cxn modelId="{81511CD2-4D63-437A-B6B1-D4140DA913D3}" type="presParOf" srcId="{76C5213D-935E-4E84-AE6E-EEC60EDC09F4}" destId="{D351300E-C8F9-45E6-98C8-452BA0C93420}" srcOrd="4" destOrd="0" presId="urn:microsoft.com/office/officeart/2005/8/layout/list1"/>
    <dgm:cxn modelId="{7F3E9F3C-1DB3-4307-A201-9093862C13E0}" type="presParOf" srcId="{D351300E-C8F9-45E6-98C8-452BA0C93420}" destId="{75240AF7-8E3A-4594-BCCB-A5F7C2ED1BEB}" srcOrd="0" destOrd="0" presId="urn:microsoft.com/office/officeart/2005/8/layout/list1"/>
    <dgm:cxn modelId="{07E0818A-6359-4E75-8FE0-55F1E6AFE901}" type="presParOf" srcId="{D351300E-C8F9-45E6-98C8-452BA0C93420}" destId="{B7C7AA98-279A-4656-926C-85B4DA08DACC}" srcOrd="1" destOrd="0" presId="urn:microsoft.com/office/officeart/2005/8/layout/list1"/>
    <dgm:cxn modelId="{61C59A8C-EF63-43F3-9E35-6C514B210CBD}" type="presParOf" srcId="{76C5213D-935E-4E84-AE6E-EEC60EDC09F4}" destId="{0B5F9E71-E320-41C4-A8AE-46543B703B5A}" srcOrd="5" destOrd="0" presId="urn:microsoft.com/office/officeart/2005/8/layout/list1"/>
    <dgm:cxn modelId="{83EF958A-4A53-489B-8ACD-80E77303E936}" type="presParOf" srcId="{76C5213D-935E-4E84-AE6E-EEC60EDC09F4}" destId="{4F6F25CB-408B-48BC-8D70-F2253B09C971}" srcOrd="6" destOrd="0" presId="urn:microsoft.com/office/officeart/2005/8/layout/list1"/>
    <dgm:cxn modelId="{FFFBF89D-91D4-4E14-AD74-AA0B37B347AD}" type="presParOf" srcId="{76C5213D-935E-4E84-AE6E-EEC60EDC09F4}" destId="{DBE7099C-FBCE-432B-9D93-6F9EB94AFE4D}" srcOrd="7" destOrd="0" presId="urn:microsoft.com/office/officeart/2005/8/layout/list1"/>
    <dgm:cxn modelId="{478D57C3-7D09-4A65-9D73-5C171B651063}" type="presParOf" srcId="{76C5213D-935E-4E84-AE6E-EEC60EDC09F4}" destId="{08943FBA-210E-4ABD-B809-B8DFA5C92D61}" srcOrd="8" destOrd="0" presId="urn:microsoft.com/office/officeart/2005/8/layout/list1"/>
    <dgm:cxn modelId="{7484BCD1-7BCE-4A20-BBF5-B311CDE75029}" type="presParOf" srcId="{08943FBA-210E-4ABD-B809-B8DFA5C92D61}" destId="{C2D9B35E-FBA4-4488-944A-C94C48B0B578}" srcOrd="0" destOrd="0" presId="urn:microsoft.com/office/officeart/2005/8/layout/list1"/>
    <dgm:cxn modelId="{31C3ADCB-801F-4D23-A31F-79CC263C1DA5}" type="presParOf" srcId="{08943FBA-210E-4ABD-B809-B8DFA5C92D61}" destId="{654EFC8A-262D-4AFD-A2D5-DCE1987BC89A}" srcOrd="1" destOrd="0" presId="urn:microsoft.com/office/officeart/2005/8/layout/list1"/>
    <dgm:cxn modelId="{E481F89E-F1EC-4787-806F-F3E31634D5DA}" type="presParOf" srcId="{76C5213D-935E-4E84-AE6E-EEC60EDC09F4}" destId="{31F3BC10-5A9E-4ABC-B086-E4FBC83D66F1}" srcOrd="9" destOrd="0" presId="urn:microsoft.com/office/officeart/2005/8/layout/list1"/>
    <dgm:cxn modelId="{1F4BA462-4F84-4212-95FB-E31C9DDF3FDA}" type="presParOf" srcId="{76C5213D-935E-4E84-AE6E-EEC60EDC09F4}" destId="{56E88F2F-48B7-452F-9149-E9D735D9A70C}" srcOrd="10" destOrd="0" presId="urn:microsoft.com/office/officeart/2005/8/layout/list1"/>
    <dgm:cxn modelId="{10876C76-E074-4121-9DE1-0EB7FAF10F23}" type="presParOf" srcId="{76C5213D-935E-4E84-AE6E-EEC60EDC09F4}" destId="{4AAA8CD2-C5BE-409B-ABF6-A766A8F70295}" srcOrd="11" destOrd="0" presId="urn:microsoft.com/office/officeart/2005/8/layout/list1"/>
    <dgm:cxn modelId="{69C9B2D7-69C9-49E8-AB3C-EEFC2CAF90D7}" type="presParOf" srcId="{76C5213D-935E-4E84-AE6E-EEC60EDC09F4}" destId="{F9F586E3-D062-49C2-A7B3-DEF3690A3C4F}" srcOrd="12" destOrd="0" presId="urn:microsoft.com/office/officeart/2005/8/layout/list1"/>
    <dgm:cxn modelId="{248C938E-D115-4495-AC0C-8FE6C47A066C}" type="presParOf" srcId="{F9F586E3-D062-49C2-A7B3-DEF3690A3C4F}" destId="{F3251EA7-4DAE-4DC6-9F04-04658D667E1A}" srcOrd="0" destOrd="0" presId="urn:microsoft.com/office/officeart/2005/8/layout/list1"/>
    <dgm:cxn modelId="{B551D8DB-17C8-4E61-A359-21FE9BF7CCD1}" type="presParOf" srcId="{F9F586E3-D062-49C2-A7B3-DEF3690A3C4F}" destId="{FCFEA345-9E7F-40D4-A2C2-3E973D8630B4}" srcOrd="1" destOrd="0" presId="urn:microsoft.com/office/officeart/2005/8/layout/list1"/>
    <dgm:cxn modelId="{9404B03C-DD39-4814-80AE-CDCDA7C017DE}" type="presParOf" srcId="{76C5213D-935E-4E84-AE6E-EEC60EDC09F4}" destId="{ECAFA556-B43F-4BDA-9EDA-2FFF983C4660}" srcOrd="13" destOrd="0" presId="urn:microsoft.com/office/officeart/2005/8/layout/list1"/>
    <dgm:cxn modelId="{F3DF5474-BAC6-4D72-A66D-2D7CD51F21EA}" type="presParOf" srcId="{76C5213D-935E-4E84-AE6E-EEC60EDC09F4}" destId="{B344A62E-674B-45DD-A6AB-2B538E3183C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911698-BEF9-44D1-9FE9-DA4D0A20CE98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777EDBB-5E18-430D-903A-0A01CC107508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1.Overall Sales Performance</a:t>
          </a:r>
        </a:p>
        <a:p>
          <a:pPr>
            <a:lnSpc>
              <a:spcPct val="100000"/>
            </a:lnSpc>
          </a:pPr>
          <a:endParaRPr lang="en-US" sz="1500" b="1"/>
        </a:p>
        <a:p>
          <a:pPr>
            <a:lnSpc>
              <a:spcPct val="100000"/>
            </a:lnSpc>
          </a:pPr>
          <a:r>
            <a:rPr lang="en-US" sz="1600"/>
            <a:t>Total sales reached approximately 2.30 million.</a:t>
          </a:r>
          <a:endParaRPr lang="en-US" sz="1600" dirty="0"/>
        </a:p>
      </dgm:t>
    </dgm:pt>
    <dgm:pt modelId="{910685D5-519E-4FAE-9230-821E3514F286}" type="parTrans" cxnId="{A3A7AC6E-8DEF-4832-9864-9136EC91D882}">
      <dgm:prSet/>
      <dgm:spPr/>
      <dgm:t>
        <a:bodyPr/>
        <a:lstStyle/>
        <a:p>
          <a:endParaRPr lang="en-US"/>
        </a:p>
      </dgm:t>
    </dgm:pt>
    <dgm:pt modelId="{32AD12F5-0803-4EC8-B190-BAF9256BC44A}" type="sibTrans" cxnId="{A3A7AC6E-8DEF-4832-9864-9136EC91D882}">
      <dgm:prSet/>
      <dgm:spPr/>
      <dgm:t>
        <a:bodyPr/>
        <a:lstStyle/>
        <a:p>
          <a:endParaRPr lang="en-US"/>
        </a:p>
      </dgm:t>
    </dgm:pt>
    <dgm:pt modelId="{8E423BE6-F77C-4986-BA6A-07C3DAEE8BD6}">
      <dgm:prSet phldrT="[Text]" custT="1"/>
      <dgm:spPr/>
      <dgm:t>
        <a:bodyPr/>
        <a:lstStyle/>
        <a:p>
          <a:pPr>
            <a:lnSpc>
              <a:spcPct val="100000"/>
            </a:lnSpc>
          </a:pPr>
          <a:endParaRPr lang="en-US" sz="2000" b="1"/>
        </a:p>
        <a:p>
          <a:pPr>
            <a:lnSpc>
              <a:spcPct val="100000"/>
            </a:lnSpc>
          </a:pPr>
          <a:r>
            <a:rPr lang="en-US" sz="1800" b="1"/>
            <a:t>2. Overall Profitability</a:t>
          </a:r>
        </a:p>
        <a:p>
          <a:pPr>
            <a:lnSpc>
              <a:spcPct val="100000"/>
            </a:lnSpc>
          </a:pPr>
          <a:br>
            <a:rPr lang="en-US" sz="1900"/>
          </a:br>
          <a:r>
            <a:rPr lang="en-US" sz="1600"/>
            <a:t>The business generated approximately 286.40K in total profit.</a:t>
          </a:r>
          <a:endParaRPr lang="en-US" sz="1900" dirty="0"/>
        </a:p>
      </dgm:t>
    </dgm:pt>
    <dgm:pt modelId="{7F44ECD3-A562-4913-B5C3-B1C583E5C84F}" type="parTrans" cxnId="{ACAB92A5-9767-43C9-A0D1-382EC250E41C}">
      <dgm:prSet/>
      <dgm:spPr/>
      <dgm:t>
        <a:bodyPr/>
        <a:lstStyle/>
        <a:p>
          <a:endParaRPr lang="en-US"/>
        </a:p>
      </dgm:t>
    </dgm:pt>
    <dgm:pt modelId="{EBA698EC-9257-492F-98D5-780642F3F1AB}" type="sibTrans" cxnId="{ACAB92A5-9767-43C9-A0D1-382EC250E41C}">
      <dgm:prSet/>
      <dgm:spPr/>
      <dgm:t>
        <a:bodyPr/>
        <a:lstStyle/>
        <a:p>
          <a:endParaRPr lang="en-US"/>
        </a:p>
      </dgm:t>
    </dgm:pt>
    <dgm:pt modelId="{57CCDBFE-F0EB-4ECB-968E-7518D070E524}">
      <dgm:prSet phldrT="[Text]" custT="1"/>
      <dgm:spPr/>
      <dgm:t>
        <a:bodyPr/>
        <a:lstStyle/>
        <a:p>
          <a:pPr>
            <a:lnSpc>
              <a:spcPct val="100000"/>
            </a:lnSpc>
          </a:pPr>
          <a:endParaRPr lang="en-US" sz="1500"/>
        </a:p>
        <a:p>
          <a:pPr>
            <a:lnSpc>
              <a:spcPct val="100000"/>
            </a:lnSpc>
          </a:pPr>
          <a:r>
            <a:rPr lang="en-US" sz="1800" b="1"/>
            <a:t>5. Category Sales Performance</a:t>
          </a:r>
        </a:p>
        <a:p>
          <a:pPr>
            <a:lnSpc>
              <a:spcPct val="100000"/>
            </a:lnSpc>
          </a:pPr>
          <a:r>
            <a:rPr lang="en-US" sz="1600"/>
            <a:t>Technology recorded the highest sales among the three product categories, generating approximately 836.15K.</a:t>
          </a:r>
          <a:endParaRPr lang="en-US" sz="1400" dirty="0"/>
        </a:p>
      </dgm:t>
    </dgm:pt>
    <dgm:pt modelId="{31B27077-B9D9-453A-BF5D-167C70BBD330}" type="parTrans" cxnId="{83180BA3-B8E4-42E1-B19E-66434DA2676B}">
      <dgm:prSet/>
      <dgm:spPr/>
      <dgm:t>
        <a:bodyPr/>
        <a:lstStyle/>
        <a:p>
          <a:endParaRPr lang="en-US"/>
        </a:p>
      </dgm:t>
    </dgm:pt>
    <dgm:pt modelId="{300DAC8B-982A-49AF-83CA-533D8E12DF9F}" type="sibTrans" cxnId="{83180BA3-B8E4-42E1-B19E-66434DA2676B}">
      <dgm:prSet/>
      <dgm:spPr/>
      <dgm:t>
        <a:bodyPr/>
        <a:lstStyle/>
        <a:p>
          <a:endParaRPr lang="en-US"/>
        </a:p>
      </dgm:t>
    </dgm:pt>
    <dgm:pt modelId="{8F4715E3-5A80-45C3-866D-73AFDE72B42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/>
            <a:t>4. Customer Base</a:t>
          </a:r>
        </a:p>
        <a:p>
          <a:pPr>
            <a:lnSpc>
              <a:spcPct val="100000"/>
            </a:lnSpc>
          </a:pPr>
          <a:br>
            <a:rPr lang="en-US" sz="1500"/>
          </a:br>
          <a:r>
            <a:rPr lang="en-US" sz="1600"/>
            <a:t>The analysis identified 793 unique customers.</a:t>
          </a:r>
          <a:endParaRPr lang="en-US" sz="1500" dirty="0"/>
        </a:p>
      </dgm:t>
    </dgm:pt>
    <dgm:pt modelId="{2C9D2EAB-FBFD-4207-A45F-FC7D8538D0D8}" type="parTrans" cxnId="{CFB9C3FF-1AEA-4A83-83AD-307BEB55B5E9}">
      <dgm:prSet/>
      <dgm:spPr/>
      <dgm:t>
        <a:bodyPr/>
        <a:lstStyle/>
        <a:p>
          <a:endParaRPr lang="en-US"/>
        </a:p>
      </dgm:t>
    </dgm:pt>
    <dgm:pt modelId="{7D28E50D-2BD6-4E52-8D79-1C2CE55052CC}" type="sibTrans" cxnId="{CFB9C3FF-1AEA-4A83-83AD-307BEB55B5E9}">
      <dgm:prSet/>
      <dgm:spPr/>
      <dgm:t>
        <a:bodyPr/>
        <a:lstStyle/>
        <a:p>
          <a:endParaRPr lang="en-US"/>
        </a:p>
      </dgm:t>
    </dgm:pt>
    <dgm:pt modelId="{16FC9976-B77F-49F8-8E4D-313188169C1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/>
            <a:t>3.Order Performance</a:t>
          </a:r>
        </a:p>
        <a:p>
          <a:pPr>
            <a:lnSpc>
              <a:spcPct val="100000"/>
            </a:lnSpc>
          </a:pPr>
          <a:br>
            <a:rPr lang="en-US" sz="1800"/>
          </a:br>
          <a:r>
            <a:rPr lang="en-US" sz="1600"/>
            <a:t>The dataset contained 5,009 unique orders.</a:t>
          </a:r>
          <a:endParaRPr lang="en-US" sz="1800" dirty="0"/>
        </a:p>
      </dgm:t>
    </dgm:pt>
    <dgm:pt modelId="{E73399A6-5CFB-4A70-9CD4-5B83CAC16011}" type="parTrans" cxnId="{CFE70226-0E9D-4E88-9873-E00C4C1BF268}">
      <dgm:prSet/>
      <dgm:spPr/>
      <dgm:t>
        <a:bodyPr/>
        <a:lstStyle/>
        <a:p>
          <a:endParaRPr lang="en-US"/>
        </a:p>
      </dgm:t>
    </dgm:pt>
    <dgm:pt modelId="{7A34B0C0-C45A-4548-B48E-8ED6851B1D1E}" type="sibTrans" cxnId="{CFE70226-0E9D-4E88-9873-E00C4C1BF268}">
      <dgm:prSet/>
      <dgm:spPr/>
      <dgm:t>
        <a:bodyPr/>
        <a:lstStyle/>
        <a:p>
          <a:endParaRPr lang="en-US"/>
        </a:p>
      </dgm:t>
    </dgm:pt>
    <dgm:pt modelId="{507E356A-605E-45F4-8E95-D0ADDAEF384C}" type="pres">
      <dgm:prSet presAssocID="{39911698-BEF9-44D1-9FE9-DA4D0A20CE98}" presName="diagram" presStyleCnt="0">
        <dgm:presLayoutVars>
          <dgm:dir/>
          <dgm:resizeHandles val="exact"/>
        </dgm:presLayoutVars>
      </dgm:prSet>
      <dgm:spPr/>
    </dgm:pt>
    <dgm:pt modelId="{5704DEAE-E8A3-409E-9B3E-DDABA1A496F7}" type="pres">
      <dgm:prSet presAssocID="{A777EDBB-5E18-430D-903A-0A01CC107508}" presName="node" presStyleLbl="node1" presStyleIdx="0" presStyleCnt="5" custLinFactNeighborX="288" custLinFactNeighborY="960">
        <dgm:presLayoutVars>
          <dgm:bulletEnabled val="1"/>
        </dgm:presLayoutVars>
      </dgm:prSet>
      <dgm:spPr/>
    </dgm:pt>
    <dgm:pt modelId="{1343D008-1E00-4FE4-B60B-373D9E2602B0}" type="pres">
      <dgm:prSet presAssocID="{32AD12F5-0803-4EC8-B190-BAF9256BC44A}" presName="sibTrans" presStyleCnt="0"/>
      <dgm:spPr/>
    </dgm:pt>
    <dgm:pt modelId="{D5E562BB-D1F7-45E4-9816-C8BFEA42AB69}" type="pres">
      <dgm:prSet presAssocID="{8E423BE6-F77C-4986-BA6A-07C3DAEE8BD6}" presName="node" presStyleLbl="node1" presStyleIdx="1" presStyleCnt="5" custScaleY="105956">
        <dgm:presLayoutVars>
          <dgm:bulletEnabled val="1"/>
        </dgm:presLayoutVars>
      </dgm:prSet>
      <dgm:spPr/>
    </dgm:pt>
    <dgm:pt modelId="{10240970-0DE4-4C35-884C-28DB4AA7C09F}" type="pres">
      <dgm:prSet presAssocID="{EBA698EC-9257-492F-98D5-780642F3F1AB}" presName="sibTrans" presStyleCnt="0"/>
      <dgm:spPr/>
    </dgm:pt>
    <dgm:pt modelId="{FBCFFA53-F225-4633-8BD3-EC0A4D23B2CE}" type="pres">
      <dgm:prSet presAssocID="{16FC9976-B77F-49F8-8E4D-313188169C10}" presName="node" presStyleLbl="node1" presStyleIdx="2" presStyleCnt="5">
        <dgm:presLayoutVars>
          <dgm:bulletEnabled val="1"/>
        </dgm:presLayoutVars>
      </dgm:prSet>
      <dgm:spPr/>
    </dgm:pt>
    <dgm:pt modelId="{83C50D89-EEF9-4B3D-B080-DFECD1B67833}" type="pres">
      <dgm:prSet presAssocID="{7A34B0C0-C45A-4548-B48E-8ED6851B1D1E}" presName="sibTrans" presStyleCnt="0"/>
      <dgm:spPr/>
    </dgm:pt>
    <dgm:pt modelId="{A051662F-A125-421C-80DD-C80886188304}" type="pres">
      <dgm:prSet presAssocID="{8F4715E3-5A80-45C3-866D-73AFDE72B42F}" presName="node" presStyleLbl="node1" presStyleIdx="3" presStyleCnt="5" custLinFactNeighborX="1152" custLinFactNeighborY="-960">
        <dgm:presLayoutVars>
          <dgm:bulletEnabled val="1"/>
        </dgm:presLayoutVars>
      </dgm:prSet>
      <dgm:spPr/>
    </dgm:pt>
    <dgm:pt modelId="{3B400C15-F9D1-4849-BF08-F69C9B6562EB}" type="pres">
      <dgm:prSet presAssocID="{7D28E50D-2BD6-4E52-8D79-1C2CE55052CC}" presName="sibTrans" presStyleCnt="0"/>
      <dgm:spPr/>
    </dgm:pt>
    <dgm:pt modelId="{1F269EAA-2F83-448A-BF67-5DEA3505CC06}" type="pres">
      <dgm:prSet presAssocID="{57CCDBFE-F0EB-4ECB-968E-7518D070E524}" presName="node" presStyleLbl="node1" presStyleIdx="4" presStyleCnt="5" custScaleY="99019">
        <dgm:presLayoutVars>
          <dgm:bulletEnabled val="1"/>
        </dgm:presLayoutVars>
      </dgm:prSet>
      <dgm:spPr/>
    </dgm:pt>
  </dgm:ptLst>
  <dgm:cxnLst>
    <dgm:cxn modelId="{CFE70226-0E9D-4E88-9873-E00C4C1BF268}" srcId="{39911698-BEF9-44D1-9FE9-DA4D0A20CE98}" destId="{16FC9976-B77F-49F8-8E4D-313188169C10}" srcOrd="2" destOrd="0" parTransId="{E73399A6-5CFB-4A70-9CD4-5B83CAC16011}" sibTransId="{7A34B0C0-C45A-4548-B48E-8ED6851B1D1E}"/>
    <dgm:cxn modelId="{FBCCBB45-E788-4DE4-854F-687E4AE63F46}" type="presOf" srcId="{57CCDBFE-F0EB-4ECB-968E-7518D070E524}" destId="{1F269EAA-2F83-448A-BF67-5DEA3505CC06}" srcOrd="0" destOrd="0" presId="urn:microsoft.com/office/officeart/2005/8/layout/default"/>
    <dgm:cxn modelId="{A3A7AC6E-8DEF-4832-9864-9136EC91D882}" srcId="{39911698-BEF9-44D1-9FE9-DA4D0A20CE98}" destId="{A777EDBB-5E18-430D-903A-0A01CC107508}" srcOrd="0" destOrd="0" parTransId="{910685D5-519E-4FAE-9230-821E3514F286}" sibTransId="{32AD12F5-0803-4EC8-B190-BAF9256BC44A}"/>
    <dgm:cxn modelId="{18A2707E-394D-47CE-8BA5-AD478E4CED3E}" type="presOf" srcId="{8F4715E3-5A80-45C3-866D-73AFDE72B42F}" destId="{A051662F-A125-421C-80DD-C80886188304}" srcOrd="0" destOrd="0" presId="urn:microsoft.com/office/officeart/2005/8/layout/default"/>
    <dgm:cxn modelId="{D3A09595-DA8C-4B2D-9D23-0827E37336BF}" type="presOf" srcId="{8E423BE6-F77C-4986-BA6A-07C3DAEE8BD6}" destId="{D5E562BB-D1F7-45E4-9816-C8BFEA42AB69}" srcOrd="0" destOrd="0" presId="urn:microsoft.com/office/officeart/2005/8/layout/default"/>
    <dgm:cxn modelId="{83180BA3-B8E4-42E1-B19E-66434DA2676B}" srcId="{39911698-BEF9-44D1-9FE9-DA4D0A20CE98}" destId="{57CCDBFE-F0EB-4ECB-968E-7518D070E524}" srcOrd="4" destOrd="0" parTransId="{31B27077-B9D9-453A-BF5D-167C70BBD330}" sibTransId="{300DAC8B-982A-49AF-83CA-533D8E12DF9F}"/>
    <dgm:cxn modelId="{ACAB92A5-9767-43C9-A0D1-382EC250E41C}" srcId="{39911698-BEF9-44D1-9FE9-DA4D0A20CE98}" destId="{8E423BE6-F77C-4986-BA6A-07C3DAEE8BD6}" srcOrd="1" destOrd="0" parTransId="{7F44ECD3-A562-4913-B5C3-B1C583E5C84F}" sibTransId="{EBA698EC-9257-492F-98D5-780642F3F1AB}"/>
    <dgm:cxn modelId="{24306DD4-47FB-4055-9287-BBC289B517A5}" type="presOf" srcId="{39911698-BEF9-44D1-9FE9-DA4D0A20CE98}" destId="{507E356A-605E-45F4-8E95-D0ADDAEF384C}" srcOrd="0" destOrd="0" presId="urn:microsoft.com/office/officeart/2005/8/layout/default"/>
    <dgm:cxn modelId="{40FCB2E2-83A1-476F-9591-B04509ED1264}" type="presOf" srcId="{A777EDBB-5E18-430D-903A-0A01CC107508}" destId="{5704DEAE-E8A3-409E-9B3E-DDABA1A496F7}" srcOrd="0" destOrd="0" presId="urn:microsoft.com/office/officeart/2005/8/layout/default"/>
    <dgm:cxn modelId="{705723FA-6EAC-4310-B675-907B22CB1943}" type="presOf" srcId="{16FC9976-B77F-49F8-8E4D-313188169C10}" destId="{FBCFFA53-F225-4633-8BD3-EC0A4D23B2CE}" srcOrd="0" destOrd="0" presId="urn:microsoft.com/office/officeart/2005/8/layout/default"/>
    <dgm:cxn modelId="{CFB9C3FF-1AEA-4A83-83AD-307BEB55B5E9}" srcId="{39911698-BEF9-44D1-9FE9-DA4D0A20CE98}" destId="{8F4715E3-5A80-45C3-866D-73AFDE72B42F}" srcOrd="3" destOrd="0" parTransId="{2C9D2EAB-FBFD-4207-A45F-FC7D8538D0D8}" sibTransId="{7D28E50D-2BD6-4E52-8D79-1C2CE55052CC}"/>
    <dgm:cxn modelId="{6AEE0CFF-7DD6-4AAA-9A1B-7CC3015D9159}" type="presParOf" srcId="{507E356A-605E-45F4-8E95-D0ADDAEF384C}" destId="{5704DEAE-E8A3-409E-9B3E-DDABA1A496F7}" srcOrd="0" destOrd="0" presId="urn:microsoft.com/office/officeart/2005/8/layout/default"/>
    <dgm:cxn modelId="{6E5597A4-889E-4EB6-99C1-7448711C5012}" type="presParOf" srcId="{507E356A-605E-45F4-8E95-D0ADDAEF384C}" destId="{1343D008-1E00-4FE4-B60B-373D9E2602B0}" srcOrd="1" destOrd="0" presId="urn:microsoft.com/office/officeart/2005/8/layout/default"/>
    <dgm:cxn modelId="{FFDA55D1-AF96-4E06-B087-A95005C772EF}" type="presParOf" srcId="{507E356A-605E-45F4-8E95-D0ADDAEF384C}" destId="{D5E562BB-D1F7-45E4-9816-C8BFEA42AB69}" srcOrd="2" destOrd="0" presId="urn:microsoft.com/office/officeart/2005/8/layout/default"/>
    <dgm:cxn modelId="{EE293212-E646-4C8F-ACED-8FB66252B859}" type="presParOf" srcId="{507E356A-605E-45F4-8E95-D0ADDAEF384C}" destId="{10240970-0DE4-4C35-884C-28DB4AA7C09F}" srcOrd="3" destOrd="0" presId="urn:microsoft.com/office/officeart/2005/8/layout/default"/>
    <dgm:cxn modelId="{235397B5-BF7C-49EB-ABDD-422EFF1DDA6F}" type="presParOf" srcId="{507E356A-605E-45F4-8E95-D0ADDAEF384C}" destId="{FBCFFA53-F225-4633-8BD3-EC0A4D23B2CE}" srcOrd="4" destOrd="0" presId="urn:microsoft.com/office/officeart/2005/8/layout/default"/>
    <dgm:cxn modelId="{75F773CB-0C24-42F9-8B77-0D3F52888AF0}" type="presParOf" srcId="{507E356A-605E-45F4-8E95-D0ADDAEF384C}" destId="{83C50D89-EEF9-4B3D-B080-DFECD1B67833}" srcOrd="5" destOrd="0" presId="urn:microsoft.com/office/officeart/2005/8/layout/default"/>
    <dgm:cxn modelId="{C273E221-1CFE-4FE9-A0AE-708C6ADFDE28}" type="presParOf" srcId="{507E356A-605E-45F4-8E95-D0ADDAEF384C}" destId="{A051662F-A125-421C-80DD-C80886188304}" srcOrd="6" destOrd="0" presId="urn:microsoft.com/office/officeart/2005/8/layout/default"/>
    <dgm:cxn modelId="{1DB28DD4-E97D-4391-B2DA-FE76E312712C}" type="presParOf" srcId="{507E356A-605E-45F4-8E95-D0ADDAEF384C}" destId="{3B400C15-F9D1-4849-BF08-F69C9B6562EB}" srcOrd="7" destOrd="0" presId="urn:microsoft.com/office/officeart/2005/8/layout/default"/>
    <dgm:cxn modelId="{FE9FBF4A-BD99-4B5F-B87C-370EEE0FBDAA}" type="presParOf" srcId="{507E356A-605E-45F4-8E95-D0ADDAEF384C}" destId="{1F269EAA-2F83-448A-BF67-5DEA3505CC0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9911698-BEF9-44D1-9FE9-DA4D0A20CE98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75B443F-0A51-4BBB-B7B4-5E0B2EF2EA6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>
              <a:latin typeface="Arial" panose="020B0604020202020204" pitchFamily="34" charset="0"/>
              <a:cs typeface="Arial" panose="020B0604020202020204" pitchFamily="34" charset="0"/>
            </a:rPr>
            <a:t>6. Technology Profit Performance</a:t>
          </a:r>
        </a:p>
        <a:p>
          <a:pPr>
            <a:lnSpc>
              <a:spcPct val="100000"/>
            </a:lnSpc>
          </a:pPr>
          <a:br>
            <a:rPr lang="en-US" sz="16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Technology generated approximately </a:t>
          </a:r>
          <a:r>
            <a:rPr lang="en-US" sz="1600" b="1">
              <a:latin typeface="Arial" panose="020B0604020202020204" pitchFamily="34" charset="0"/>
              <a:cs typeface="Arial" panose="020B0604020202020204" pitchFamily="34" charset="0"/>
            </a:rPr>
            <a:t>145.45K in profit</a:t>
          </a:r>
          <a:endParaRPr lang="en-US" sz="1600" dirty="0"/>
        </a:p>
      </dgm:t>
    </dgm:pt>
    <dgm:pt modelId="{A942BDBC-A6D8-4808-9698-000D2703FD70}" type="parTrans" cxnId="{81A2269A-03D4-4F40-83B8-97318235A296}">
      <dgm:prSet/>
      <dgm:spPr/>
      <dgm:t>
        <a:bodyPr/>
        <a:lstStyle/>
        <a:p>
          <a:endParaRPr lang="en-US"/>
        </a:p>
      </dgm:t>
    </dgm:pt>
    <dgm:pt modelId="{693F6799-1C18-49C4-8F09-EEFBF9EB13ED}" type="sibTrans" cxnId="{81A2269A-03D4-4F40-83B8-97318235A296}">
      <dgm:prSet/>
      <dgm:spPr/>
      <dgm:t>
        <a:bodyPr/>
        <a:lstStyle/>
        <a:p>
          <a:endParaRPr lang="en-US"/>
        </a:p>
      </dgm:t>
    </dgm:pt>
    <dgm:pt modelId="{3B39BA9C-09BE-4345-88B9-8778305632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>
              <a:latin typeface="Arial" panose="020B0604020202020204" pitchFamily="34" charset="0"/>
              <a:cs typeface="Arial" panose="020B0604020202020204" pitchFamily="34" charset="0"/>
            </a:rPr>
            <a:t>7. Office Supplies Profit Performance</a:t>
          </a:r>
        </a:p>
        <a:p>
          <a:pPr>
            <a:lnSpc>
              <a:spcPct val="100000"/>
            </a:lnSpc>
          </a:pPr>
          <a:br>
            <a:rPr lang="en-US" sz="16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Office Supplies generated approximately </a:t>
          </a:r>
          <a:r>
            <a:rPr lang="en-US" sz="1600" b="1">
              <a:latin typeface="Arial" panose="020B0604020202020204" pitchFamily="34" charset="0"/>
              <a:cs typeface="Arial" panose="020B0604020202020204" pitchFamily="34" charset="0"/>
            </a:rPr>
            <a:t>122.49K in profit</a:t>
          </a: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0775CB-E35B-4DD2-9A4C-47A6F8172FA1}" type="parTrans" cxnId="{9E199DF4-057B-4118-A927-9B727E1B278C}">
      <dgm:prSet/>
      <dgm:spPr/>
      <dgm:t>
        <a:bodyPr/>
        <a:lstStyle/>
        <a:p>
          <a:endParaRPr lang="en-US"/>
        </a:p>
      </dgm:t>
    </dgm:pt>
    <dgm:pt modelId="{E944C926-7AF9-4861-946F-D6FC7B36915A}" type="sibTrans" cxnId="{9E199DF4-057B-4118-A927-9B727E1B278C}">
      <dgm:prSet/>
      <dgm:spPr/>
      <dgm:t>
        <a:bodyPr/>
        <a:lstStyle/>
        <a:p>
          <a:endParaRPr lang="en-US"/>
        </a:p>
      </dgm:t>
    </dgm:pt>
    <dgm:pt modelId="{9CA45669-B366-4498-9E4A-0E78061C9FE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>
              <a:latin typeface="Arial" panose="020B0604020202020204" pitchFamily="34" charset="0"/>
              <a:cs typeface="Arial" panose="020B0604020202020204" pitchFamily="34" charset="0"/>
            </a:rPr>
            <a:t>8. Furniture Profit Performance</a:t>
          </a:r>
        </a:p>
        <a:p>
          <a:pPr>
            <a:lnSpc>
              <a:spcPct val="100000"/>
            </a:lnSpc>
          </a:pPr>
          <a:br>
            <a:rPr lang="en-US" sz="16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Furniture generated approximately </a:t>
          </a:r>
          <a:r>
            <a:rPr lang="en-US" sz="1600" b="1">
              <a:latin typeface="Arial" panose="020B0604020202020204" pitchFamily="34" charset="0"/>
              <a:cs typeface="Arial" panose="020B0604020202020204" pitchFamily="34" charset="0"/>
            </a:rPr>
            <a:t>18.45K in profit</a:t>
          </a: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, considerably less than the other two categories.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B1460A-D0FA-4338-B4E5-8BEAF617A363}" type="parTrans" cxnId="{F3800153-28AF-43BE-9C75-E00B10CD1B71}">
      <dgm:prSet/>
      <dgm:spPr/>
      <dgm:t>
        <a:bodyPr/>
        <a:lstStyle/>
        <a:p>
          <a:endParaRPr lang="en-US"/>
        </a:p>
      </dgm:t>
    </dgm:pt>
    <dgm:pt modelId="{2BF3D2CE-2554-416A-8EAF-1E413D0FB32C}" type="sibTrans" cxnId="{F3800153-28AF-43BE-9C75-E00B10CD1B71}">
      <dgm:prSet/>
      <dgm:spPr/>
      <dgm:t>
        <a:bodyPr/>
        <a:lstStyle/>
        <a:p>
          <a:endParaRPr lang="en-US"/>
        </a:p>
      </dgm:t>
    </dgm:pt>
    <dgm:pt modelId="{95F85DF3-0470-4D9F-97CD-9EE34F311B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Arial" panose="020B0604020202020204" pitchFamily="34" charset="0"/>
              <a:cs typeface="Arial" panose="020B0604020202020204" pitchFamily="34" charset="0"/>
            </a:rPr>
            <a:t>9. Monthly Sales Performance</a:t>
          </a:r>
        </a:p>
        <a:p>
          <a:pPr>
            <a:lnSpc>
              <a:spcPct val="100000"/>
            </a:lnSpc>
          </a:pPr>
          <a:br>
            <a:rPr lang="en-US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November recorded the highest monthly sales, at approximately </a:t>
          </a:r>
          <a:r>
            <a:rPr lang="en-US" b="1">
              <a:latin typeface="Arial" panose="020B0604020202020204" pitchFamily="34" charset="0"/>
              <a:cs typeface="Arial" panose="020B0604020202020204" pitchFamily="34" charset="0"/>
            </a:rPr>
            <a:t>352.46K</a:t>
          </a:r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12F4C2-3362-4461-9ABE-B7DF8453F350}" type="parTrans" cxnId="{1547FA2B-DF9B-4FC9-AF3F-7203745E2A9A}">
      <dgm:prSet/>
      <dgm:spPr/>
      <dgm:t>
        <a:bodyPr/>
        <a:lstStyle/>
        <a:p>
          <a:endParaRPr lang="en-US"/>
        </a:p>
      </dgm:t>
    </dgm:pt>
    <dgm:pt modelId="{D42BCF46-95B4-46DB-B8B0-1E00A7C91036}" type="sibTrans" cxnId="{1547FA2B-DF9B-4FC9-AF3F-7203745E2A9A}">
      <dgm:prSet/>
      <dgm:spPr/>
      <dgm:t>
        <a:bodyPr/>
        <a:lstStyle/>
        <a:p>
          <a:endParaRPr lang="en-US"/>
        </a:p>
      </dgm:t>
    </dgm:pt>
    <dgm:pt modelId="{D8E22CDF-72F2-4D1F-8FF4-66BD259479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10. Revenue Growth</a:t>
          </a:r>
        </a:p>
        <a:p>
          <a:pPr>
            <a:lnSpc>
              <a:spcPct val="100000"/>
            </a:lnSpc>
          </a:pPr>
          <a:br>
            <a:rPr lang="en-US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Revenue increased by approximately </a:t>
          </a:r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20.36% from 2016 to 2017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49F15FF4-5A51-4420-B2D6-BEF112F84101}" type="parTrans" cxnId="{8D84EE56-79B8-4371-9B7E-36241E10813A}">
      <dgm:prSet/>
      <dgm:spPr/>
      <dgm:t>
        <a:bodyPr/>
        <a:lstStyle/>
        <a:p>
          <a:endParaRPr lang="en-US"/>
        </a:p>
      </dgm:t>
    </dgm:pt>
    <dgm:pt modelId="{A20A2780-BCD8-4C42-9887-32D6A23FD700}" type="sibTrans" cxnId="{8D84EE56-79B8-4371-9B7E-36241E10813A}">
      <dgm:prSet/>
      <dgm:spPr/>
      <dgm:t>
        <a:bodyPr/>
        <a:lstStyle/>
        <a:p>
          <a:endParaRPr lang="en-US"/>
        </a:p>
      </dgm:t>
    </dgm:pt>
    <dgm:pt modelId="{507E356A-605E-45F4-8E95-D0ADDAEF384C}" type="pres">
      <dgm:prSet presAssocID="{39911698-BEF9-44D1-9FE9-DA4D0A20CE98}" presName="diagram" presStyleCnt="0">
        <dgm:presLayoutVars>
          <dgm:dir/>
          <dgm:resizeHandles val="exact"/>
        </dgm:presLayoutVars>
      </dgm:prSet>
      <dgm:spPr/>
    </dgm:pt>
    <dgm:pt modelId="{6CBB109E-9B68-453C-8FC7-0F74110C0EA9}" type="pres">
      <dgm:prSet presAssocID="{D75B443F-0A51-4BBB-B7B4-5E0B2EF2EA6F}" presName="node" presStyleLbl="node1" presStyleIdx="0" presStyleCnt="5">
        <dgm:presLayoutVars>
          <dgm:bulletEnabled val="1"/>
        </dgm:presLayoutVars>
      </dgm:prSet>
      <dgm:spPr/>
    </dgm:pt>
    <dgm:pt modelId="{C78F81D8-B089-4A93-8961-5645493F060F}" type="pres">
      <dgm:prSet presAssocID="{693F6799-1C18-49C4-8F09-EEFBF9EB13ED}" presName="sibTrans" presStyleCnt="0"/>
      <dgm:spPr/>
    </dgm:pt>
    <dgm:pt modelId="{FD104405-C4F7-4967-BC66-218CC6E8A36B}" type="pres">
      <dgm:prSet presAssocID="{3B39BA9C-09BE-4345-88B9-8778305632EE}" presName="node" presStyleLbl="node1" presStyleIdx="1" presStyleCnt="5">
        <dgm:presLayoutVars>
          <dgm:bulletEnabled val="1"/>
        </dgm:presLayoutVars>
      </dgm:prSet>
      <dgm:spPr/>
    </dgm:pt>
    <dgm:pt modelId="{4840271C-23D8-4426-A196-AE3268F781A6}" type="pres">
      <dgm:prSet presAssocID="{E944C926-7AF9-4861-946F-D6FC7B36915A}" presName="sibTrans" presStyleCnt="0"/>
      <dgm:spPr/>
    </dgm:pt>
    <dgm:pt modelId="{695D80B9-4D72-4460-AFB4-C167673E0D75}" type="pres">
      <dgm:prSet presAssocID="{9CA45669-B366-4498-9E4A-0E78061C9FE7}" presName="node" presStyleLbl="node1" presStyleIdx="2" presStyleCnt="5">
        <dgm:presLayoutVars>
          <dgm:bulletEnabled val="1"/>
        </dgm:presLayoutVars>
      </dgm:prSet>
      <dgm:spPr/>
    </dgm:pt>
    <dgm:pt modelId="{4BA8E616-06E5-4310-8C20-1D4F4E26CC6D}" type="pres">
      <dgm:prSet presAssocID="{2BF3D2CE-2554-416A-8EAF-1E413D0FB32C}" presName="sibTrans" presStyleCnt="0"/>
      <dgm:spPr/>
    </dgm:pt>
    <dgm:pt modelId="{E51C6FB2-CF87-474F-8936-48D2674FD973}" type="pres">
      <dgm:prSet presAssocID="{95F85DF3-0470-4D9F-97CD-9EE34F311B0F}" presName="node" presStyleLbl="node1" presStyleIdx="3" presStyleCnt="5">
        <dgm:presLayoutVars>
          <dgm:bulletEnabled val="1"/>
        </dgm:presLayoutVars>
      </dgm:prSet>
      <dgm:spPr/>
    </dgm:pt>
    <dgm:pt modelId="{CA6CB21C-5B5A-4D55-8D3C-D2D28B26BB6F}" type="pres">
      <dgm:prSet presAssocID="{D42BCF46-95B4-46DB-B8B0-1E00A7C91036}" presName="sibTrans" presStyleCnt="0"/>
      <dgm:spPr/>
    </dgm:pt>
    <dgm:pt modelId="{65ECB743-6610-456D-8987-8CE1E079AE15}" type="pres">
      <dgm:prSet presAssocID="{D8E22CDF-72F2-4D1F-8FF4-66BD259479DB}" presName="node" presStyleLbl="node1" presStyleIdx="4" presStyleCnt="5">
        <dgm:presLayoutVars>
          <dgm:bulletEnabled val="1"/>
        </dgm:presLayoutVars>
      </dgm:prSet>
      <dgm:spPr/>
    </dgm:pt>
  </dgm:ptLst>
  <dgm:cxnLst>
    <dgm:cxn modelId="{1547FA2B-DF9B-4FC9-AF3F-7203745E2A9A}" srcId="{39911698-BEF9-44D1-9FE9-DA4D0A20CE98}" destId="{95F85DF3-0470-4D9F-97CD-9EE34F311B0F}" srcOrd="3" destOrd="0" parTransId="{FA12F4C2-3362-4461-9ABE-B7DF8453F350}" sibTransId="{D42BCF46-95B4-46DB-B8B0-1E00A7C91036}"/>
    <dgm:cxn modelId="{0F81AB2D-533C-411A-BFAB-F5C3D5C90A41}" type="presOf" srcId="{3B39BA9C-09BE-4345-88B9-8778305632EE}" destId="{FD104405-C4F7-4967-BC66-218CC6E8A36B}" srcOrd="0" destOrd="0" presId="urn:microsoft.com/office/officeart/2005/8/layout/default"/>
    <dgm:cxn modelId="{E9EFE531-1D6B-4E0C-A887-E68134771E0C}" type="presOf" srcId="{D75B443F-0A51-4BBB-B7B4-5E0B2EF2EA6F}" destId="{6CBB109E-9B68-453C-8FC7-0F74110C0EA9}" srcOrd="0" destOrd="0" presId="urn:microsoft.com/office/officeart/2005/8/layout/default"/>
    <dgm:cxn modelId="{2B9DE962-D7E7-4119-B949-F085DD52E93C}" type="presOf" srcId="{D8E22CDF-72F2-4D1F-8FF4-66BD259479DB}" destId="{65ECB743-6610-456D-8987-8CE1E079AE15}" srcOrd="0" destOrd="0" presId="urn:microsoft.com/office/officeart/2005/8/layout/default"/>
    <dgm:cxn modelId="{9F7F776F-58F4-44CB-9B0A-9FE5D361C5C2}" type="presOf" srcId="{95F85DF3-0470-4D9F-97CD-9EE34F311B0F}" destId="{E51C6FB2-CF87-474F-8936-48D2674FD973}" srcOrd="0" destOrd="0" presId="urn:microsoft.com/office/officeart/2005/8/layout/default"/>
    <dgm:cxn modelId="{F3800153-28AF-43BE-9C75-E00B10CD1B71}" srcId="{39911698-BEF9-44D1-9FE9-DA4D0A20CE98}" destId="{9CA45669-B366-4498-9E4A-0E78061C9FE7}" srcOrd="2" destOrd="0" parTransId="{71B1460A-D0FA-4338-B4E5-8BEAF617A363}" sibTransId="{2BF3D2CE-2554-416A-8EAF-1E413D0FB32C}"/>
    <dgm:cxn modelId="{8D84EE56-79B8-4371-9B7E-36241E10813A}" srcId="{39911698-BEF9-44D1-9FE9-DA4D0A20CE98}" destId="{D8E22CDF-72F2-4D1F-8FF4-66BD259479DB}" srcOrd="4" destOrd="0" parTransId="{49F15FF4-5A51-4420-B2D6-BEF112F84101}" sibTransId="{A20A2780-BCD8-4C42-9887-32D6A23FD700}"/>
    <dgm:cxn modelId="{6BA97789-FF72-46EE-B329-0EA99F76EE02}" type="presOf" srcId="{9CA45669-B366-4498-9E4A-0E78061C9FE7}" destId="{695D80B9-4D72-4460-AFB4-C167673E0D75}" srcOrd="0" destOrd="0" presId="urn:microsoft.com/office/officeart/2005/8/layout/default"/>
    <dgm:cxn modelId="{81A2269A-03D4-4F40-83B8-97318235A296}" srcId="{39911698-BEF9-44D1-9FE9-DA4D0A20CE98}" destId="{D75B443F-0A51-4BBB-B7B4-5E0B2EF2EA6F}" srcOrd="0" destOrd="0" parTransId="{A942BDBC-A6D8-4808-9698-000D2703FD70}" sibTransId="{693F6799-1C18-49C4-8F09-EEFBF9EB13ED}"/>
    <dgm:cxn modelId="{24306DD4-47FB-4055-9287-BBC289B517A5}" type="presOf" srcId="{39911698-BEF9-44D1-9FE9-DA4D0A20CE98}" destId="{507E356A-605E-45F4-8E95-D0ADDAEF384C}" srcOrd="0" destOrd="0" presId="urn:microsoft.com/office/officeart/2005/8/layout/default"/>
    <dgm:cxn modelId="{9E199DF4-057B-4118-A927-9B727E1B278C}" srcId="{39911698-BEF9-44D1-9FE9-DA4D0A20CE98}" destId="{3B39BA9C-09BE-4345-88B9-8778305632EE}" srcOrd="1" destOrd="0" parTransId="{C20775CB-E35B-4DD2-9A4C-47A6F8172FA1}" sibTransId="{E944C926-7AF9-4861-946F-D6FC7B36915A}"/>
    <dgm:cxn modelId="{52BFBAB6-D251-47E8-A82A-FA4652B166D8}" type="presParOf" srcId="{507E356A-605E-45F4-8E95-D0ADDAEF384C}" destId="{6CBB109E-9B68-453C-8FC7-0F74110C0EA9}" srcOrd="0" destOrd="0" presId="urn:microsoft.com/office/officeart/2005/8/layout/default"/>
    <dgm:cxn modelId="{6FB3814A-4C5A-4F6F-B55C-D0B192FC13E1}" type="presParOf" srcId="{507E356A-605E-45F4-8E95-D0ADDAEF384C}" destId="{C78F81D8-B089-4A93-8961-5645493F060F}" srcOrd="1" destOrd="0" presId="urn:microsoft.com/office/officeart/2005/8/layout/default"/>
    <dgm:cxn modelId="{4C6CBC2A-ED5F-4165-AA92-48FB0CF2CA6A}" type="presParOf" srcId="{507E356A-605E-45F4-8E95-D0ADDAEF384C}" destId="{FD104405-C4F7-4967-BC66-218CC6E8A36B}" srcOrd="2" destOrd="0" presId="urn:microsoft.com/office/officeart/2005/8/layout/default"/>
    <dgm:cxn modelId="{5A6DAA00-B418-4778-A7C2-CA6AD398E400}" type="presParOf" srcId="{507E356A-605E-45F4-8E95-D0ADDAEF384C}" destId="{4840271C-23D8-4426-A196-AE3268F781A6}" srcOrd="3" destOrd="0" presId="urn:microsoft.com/office/officeart/2005/8/layout/default"/>
    <dgm:cxn modelId="{A8EC907A-DE46-4CDE-8601-370642B35A34}" type="presParOf" srcId="{507E356A-605E-45F4-8E95-D0ADDAEF384C}" destId="{695D80B9-4D72-4460-AFB4-C167673E0D75}" srcOrd="4" destOrd="0" presId="urn:microsoft.com/office/officeart/2005/8/layout/default"/>
    <dgm:cxn modelId="{DFD91860-9701-44CD-953C-AF6D87D13010}" type="presParOf" srcId="{507E356A-605E-45F4-8E95-D0ADDAEF384C}" destId="{4BA8E616-06E5-4310-8C20-1D4F4E26CC6D}" srcOrd="5" destOrd="0" presId="urn:microsoft.com/office/officeart/2005/8/layout/default"/>
    <dgm:cxn modelId="{1CC7F99D-FDA3-4522-9CDB-85A1EF36EE22}" type="presParOf" srcId="{507E356A-605E-45F4-8E95-D0ADDAEF384C}" destId="{E51C6FB2-CF87-474F-8936-48D2674FD973}" srcOrd="6" destOrd="0" presId="urn:microsoft.com/office/officeart/2005/8/layout/default"/>
    <dgm:cxn modelId="{D23C35B8-A8C0-4582-983E-7AD0626569D8}" type="presParOf" srcId="{507E356A-605E-45F4-8E95-D0ADDAEF384C}" destId="{CA6CB21C-5B5A-4D55-8D3C-D2D28B26BB6F}" srcOrd="7" destOrd="0" presId="urn:microsoft.com/office/officeart/2005/8/layout/default"/>
    <dgm:cxn modelId="{8487606A-9F6A-4055-A6F4-91285A84C322}" type="presParOf" srcId="{507E356A-605E-45F4-8E95-D0ADDAEF384C}" destId="{65ECB743-6610-456D-8987-8CE1E079AE1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87BD4-A934-4905-9A92-97F82CE5603C}">
      <dsp:nvSpPr>
        <dsp:cNvPr id="0" name=""/>
        <dsp:cNvSpPr/>
      </dsp:nvSpPr>
      <dsp:spPr>
        <a:xfrm>
          <a:off x="0" y="1005139"/>
          <a:ext cx="2629753" cy="9384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Inspected the dataset structure and data types.</a:t>
          </a:r>
        </a:p>
      </dsp:txBody>
      <dsp:txXfrm>
        <a:off x="0" y="1005139"/>
        <a:ext cx="2629753" cy="938474"/>
      </dsp:txXfrm>
    </dsp:sp>
    <dsp:sp modelId="{FECBCA83-382D-4023-88BD-91FAB9ABD74E}">
      <dsp:nvSpPr>
        <dsp:cNvPr id="0" name=""/>
        <dsp:cNvSpPr/>
      </dsp:nvSpPr>
      <dsp:spPr>
        <a:xfrm>
          <a:off x="2778561" y="974583"/>
          <a:ext cx="2629753" cy="99958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Checked for missing values and duplicate records</a:t>
          </a:r>
        </a:p>
      </dsp:txBody>
      <dsp:txXfrm>
        <a:off x="2778561" y="974583"/>
        <a:ext cx="2629753" cy="999585"/>
      </dsp:txXfrm>
    </dsp:sp>
    <dsp:sp modelId="{8F4990F4-7427-4D69-B7CA-F0020F9D073D}">
      <dsp:nvSpPr>
        <dsp:cNvPr id="0" name=""/>
        <dsp:cNvSpPr/>
      </dsp:nvSpPr>
      <dsp:spPr>
        <a:xfrm>
          <a:off x="1145406" y="3117901"/>
          <a:ext cx="2629753" cy="10594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Verified column names and corrected data types where required. </a:t>
          </a:r>
        </a:p>
      </dsp:txBody>
      <dsp:txXfrm>
        <a:off x="1145406" y="3117901"/>
        <a:ext cx="2629753" cy="1059464"/>
      </dsp:txXfrm>
    </dsp:sp>
    <dsp:sp modelId="{F113CADD-5DD7-4AC6-A99C-EA63D5258F8F}">
      <dsp:nvSpPr>
        <dsp:cNvPr id="0" name=""/>
        <dsp:cNvSpPr/>
      </dsp:nvSpPr>
      <dsp:spPr>
        <a:xfrm>
          <a:off x="2778588" y="2116438"/>
          <a:ext cx="2629753" cy="9052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Created additional analytical features, including Year, Month, Month Name, and Quarter</a:t>
          </a:r>
        </a:p>
      </dsp:txBody>
      <dsp:txXfrm>
        <a:off x="2778588" y="2116438"/>
        <a:ext cx="2629753" cy="905213"/>
      </dsp:txXfrm>
    </dsp:sp>
    <dsp:sp modelId="{4F298ED7-CA29-45A2-83D1-EC6894F56838}">
      <dsp:nvSpPr>
        <dsp:cNvPr id="0" name=""/>
        <dsp:cNvSpPr/>
      </dsp:nvSpPr>
      <dsp:spPr>
        <a:xfrm>
          <a:off x="0" y="2117553"/>
          <a:ext cx="2629753" cy="84908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Prepared the transformed dataset for further analysis.</a:t>
          </a:r>
        </a:p>
      </dsp:txBody>
      <dsp:txXfrm>
        <a:off x="0" y="2117553"/>
        <a:ext cx="2629753" cy="849089"/>
      </dsp:txXfrm>
    </dsp:sp>
    <dsp:sp modelId="{4E3C985D-01A9-4515-B53D-78377138BAFB}">
      <dsp:nvSpPr>
        <dsp:cNvPr id="0" name=""/>
        <dsp:cNvSpPr/>
      </dsp:nvSpPr>
      <dsp:spPr>
        <a:xfrm>
          <a:off x="1278708" y="0"/>
          <a:ext cx="2629753" cy="7911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Data Cleaning</a:t>
          </a:r>
          <a:r>
            <a:rPr lang="en-US" sz="2100" kern="1200"/>
            <a:t>
</a:t>
          </a:r>
          <a:endParaRPr lang="en-US" sz="2100" kern="1200" dirty="0"/>
        </a:p>
      </dsp:txBody>
      <dsp:txXfrm>
        <a:off x="1278708" y="0"/>
        <a:ext cx="2629753" cy="7911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87BD4-A934-4905-9A92-97F82CE5603C}">
      <dsp:nvSpPr>
        <dsp:cNvPr id="0" name=""/>
        <dsp:cNvSpPr/>
      </dsp:nvSpPr>
      <dsp:spPr>
        <a:xfrm>
          <a:off x="0" y="1005139"/>
          <a:ext cx="2629753" cy="9384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Analyzed sales and profit performance across product categories.</a:t>
          </a:r>
        </a:p>
      </dsp:txBody>
      <dsp:txXfrm>
        <a:off x="0" y="1005139"/>
        <a:ext cx="2629753" cy="938474"/>
      </dsp:txXfrm>
    </dsp:sp>
    <dsp:sp modelId="{FECBCA83-382D-4023-88BD-91FAB9ABD74E}">
      <dsp:nvSpPr>
        <dsp:cNvPr id="0" name=""/>
        <dsp:cNvSpPr/>
      </dsp:nvSpPr>
      <dsp:spPr>
        <a:xfrm>
          <a:off x="2778561" y="974583"/>
          <a:ext cx="2629753" cy="99958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Examined monthly sales trends.</a:t>
          </a:r>
        </a:p>
      </dsp:txBody>
      <dsp:txXfrm>
        <a:off x="2778561" y="974583"/>
        <a:ext cx="2629753" cy="999585"/>
      </dsp:txXfrm>
    </dsp:sp>
    <dsp:sp modelId="{8F4990F4-7427-4D69-B7CA-F0020F9D073D}">
      <dsp:nvSpPr>
        <dsp:cNvPr id="0" name=""/>
        <dsp:cNvSpPr/>
      </dsp:nvSpPr>
      <dsp:spPr>
        <a:xfrm>
          <a:off x="1145406" y="3117901"/>
          <a:ext cx="2629753" cy="10594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Evaluated profit margins across product categories to identify areas for profitability improvement. </a:t>
          </a:r>
        </a:p>
      </dsp:txBody>
      <dsp:txXfrm>
        <a:off x="1145406" y="3117901"/>
        <a:ext cx="2629753" cy="1059464"/>
      </dsp:txXfrm>
    </dsp:sp>
    <dsp:sp modelId="{F113CADD-5DD7-4AC6-A99C-EA63D5258F8F}">
      <dsp:nvSpPr>
        <dsp:cNvPr id="0" name=""/>
        <dsp:cNvSpPr/>
      </dsp:nvSpPr>
      <dsp:spPr>
        <a:xfrm>
          <a:off x="2778588" y="2116438"/>
          <a:ext cx="2629753" cy="9052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Compared sales performance across regions.</a:t>
          </a:r>
        </a:p>
      </dsp:txBody>
      <dsp:txXfrm>
        <a:off x="2778588" y="2116438"/>
        <a:ext cx="2629753" cy="905213"/>
      </dsp:txXfrm>
    </dsp:sp>
    <dsp:sp modelId="{4F298ED7-CA29-45A2-83D1-EC6894F56838}">
      <dsp:nvSpPr>
        <dsp:cNvPr id="0" name=""/>
        <dsp:cNvSpPr/>
      </dsp:nvSpPr>
      <dsp:spPr>
        <a:xfrm>
          <a:off x="0" y="2117553"/>
          <a:ext cx="2629753" cy="84908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Identified top-performing customers and products.</a:t>
          </a:r>
        </a:p>
      </dsp:txBody>
      <dsp:txXfrm>
        <a:off x="0" y="2117553"/>
        <a:ext cx="2629753" cy="849089"/>
      </dsp:txXfrm>
    </dsp:sp>
    <dsp:sp modelId="{4E3C985D-01A9-4515-B53D-78377138BAFB}">
      <dsp:nvSpPr>
        <dsp:cNvPr id="0" name=""/>
        <dsp:cNvSpPr/>
      </dsp:nvSpPr>
      <dsp:spPr>
        <a:xfrm>
          <a:off x="1278708" y="0"/>
          <a:ext cx="2629753" cy="7911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Exploratory Data Analysis (EDA)</a:t>
          </a:r>
          <a:r>
            <a:rPr lang="en-US" sz="2100" kern="1200" dirty="0"/>
            <a:t>
</a:t>
          </a:r>
        </a:p>
      </dsp:txBody>
      <dsp:txXfrm>
        <a:off x="1278708" y="0"/>
        <a:ext cx="2629753" cy="7911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D30590-9127-4221-9508-95C7627F38E8}">
      <dsp:nvSpPr>
        <dsp:cNvPr id="0" name=""/>
        <dsp:cNvSpPr/>
      </dsp:nvSpPr>
      <dsp:spPr>
        <a:xfrm>
          <a:off x="0" y="312801"/>
          <a:ext cx="765388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552D10F-3C88-4ABF-A56E-5A4520F3B6B4}">
      <dsp:nvSpPr>
        <dsp:cNvPr id="0" name=""/>
        <dsp:cNvSpPr/>
      </dsp:nvSpPr>
      <dsp:spPr>
        <a:xfrm>
          <a:off x="372514" y="265574"/>
          <a:ext cx="5357720" cy="5313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2509" tIns="0" rIns="2025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Sales and Profit by Product Category </a:t>
          </a:r>
        </a:p>
      </dsp:txBody>
      <dsp:txXfrm>
        <a:off x="398453" y="291513"/>
        <a:ext cx="5305842" cy="479482"/>
      </dsp:txXfrm>
    </dsp:sp>
    <dsp:sp modelId="{4F6F25CB-408B-48BC-8D70-F2253B09C971}">
      <dsp:nvSpPr>
        <dsp:cNvPr id="0" name=""/>
        <dsp:cNvSpPr/>
      </dsp:nvSpPr>
      <dsp:spPr>
        <a:xfrm>
          <a:off x="0" y="1139254"/>
          <a:ext cx="765388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7C7AA98-279A-4656-926C-85B4DA08DACC}">
      <dsp:nvSpPr>
        <dsp:cNvPr id="0" name=""/>
        <dsp:cNvSpPr/>
      </dsp:nvSpPr>
      <dsp:spPr>
        <a:xfrm>
          <a:off x="372514" y="1091539"/>
          <a:ext cx="5357720" cy="5313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2509" tIns="0" rIns="2025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Monthly Sales Trends </a:t>
          </a:r>
        </a:p>
      </dsp:txBody>
      <dsp:txXfrm>
        <a:off x="398453" y="1117478"/>
        <a:ext cx="5305842" cy="479482"/>
      </dsp:txXfrm>
    </dsp:sp>
    <dsp:sp modelId="{56E88F2F-48B7-452F-9149-E9D735D9A70C}">
      <dsp:nvSpPr>
        <dsp:cNvPr id="0" name=""/>
        <dsp:cNvSpPr/>
      </dsp:nvSpPr>
      <dsp:spPr>
        <a:xfrm>
          <a:off x="0" y="1945762"/>
          <a:ext cx="765388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54EFC8A-262D-4AFD-A2D5-DCE1987BC89A}">
      <dsp:nvSpPr>
        <dsp:cNvPr id="0" name=""/>
        <dsp:cNvSpPr/>
      </dsp:nvSpPr>
      <dsp:spPr>
        <a:xfrm>
          <a:off x="372514" y="1885824"/>
          <a:ext cx="5357720" cy="5313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2509" tIns="0" rIns="2025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Regional Sales Performance </a:t>
          </a:r>
        </a:p>
      </dsp:txBody>
      <dsp:txXfrm>
        <a:off x="398453" y="1911763"/>
        <a:ext cx="5305842" cy="479482"/>
      </dsp:txXfrm>
    </dsp:sp>
    <dsp:sp modelId="{B344A62E-674B-45DD-A6AB-2B538E3183CF}">
      <dsp:nvSpPr>
        <dsp:cNvPr id="0" name=""/>
        <dsp:cNvSpPr/>
      </dsp:nvSpPr>
      <dsp:spPr>
        <a:xfrm>
          <a:off x="0" y="2762242"/>
          <a:ext cx="765388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CFEA345-9E7F-40D4-A2C2-3E973D8630B4}">
      <dsp:nvSpPr>
        <dsp:cNvPr id="0" name=""/>
        <dsp:cNvSpPr/>
      </dsp:nvSpPr>
      <dsp:spPr>
        <a:xfrm>
          <a:off x="378940" y="2731603"/>
          <a:ext cx="5357720" cy="5313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2509" tIns="0" rIns="2025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Top-Performing Products and Customers</a:t>
          </a:r>
        </a:p>
      </dsp:txBody>
      <dsp:txXfrm>
        <a:off x="404879" y="2757542"/>
        <a:ext cx="5305842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04DEAE-E8A3-409E-9B3E-DDABA1A496F7}">
      <dsp:nvSpPr>
        <dsp:cNvPr id="0" name=""/>
        <dsp:cNvSpPr/>
      </dsp:nvSpPr>
      <dsp:spPr>
        <a:xfrm>
          <a:off x="307632" y="74554"/>
          <a:ext cx="3044189" cy="182651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1.Overall Sales Performance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b="1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Total sales reached approximately 2.30 million.</a:t>
          </a:r>
          <a:endParaRPr lang="en-US" sz="1600" kern="1200" dirty="0"/>
        </a:p>
      </dsp:txBody>
      <dsp:txXfrm>
        <a:off x="307632" y="74554"/>
        <a:ext cx="3044189" cy="1826513"/>
      </dsp:txXfrm>
    </dsp:sp>
    <dsp:sp modelId="{D5E562BB-D1F7-45E4-9816-C8BFEA42AB69}">
      <dsp:nvSpPr>
        <dsp:cNvPr id="0" name=""/>
        <dsp:cNvSpPr/>
      </dsp:nvSpPr>
      <dsp:spPr>
        <a:xfrm>
          <a:off x="3647473" y="2626"/>
          <a:ext cx="3044189" cy="19353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/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2. Overall Profitability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900" kern="1200"/>
          </a:br>
          <a:r>
            <a:rPr lang="en-US" sz="1600" kern="1200"/>
            <a:t>The business generated approximately 286.40K in total profit.</a:t>
          </a:r>
          <a:endParaRPr lang="en-US" sz="1900" kern="1200" dirty="0"/>
        </a:p>
      </dsp:txBody>
      <dsp:txXfrm>
        <a:off x="3647473" y="2626"/>
        <a:ext cx="3044189" cy="1935300"/>
      </dsp:txXfrm>
    </dsp:sp>
    <dsp:sp modelId="{FBCFFA53-F225-4633-8BD3-EC0A4D23B2CE}">
      <dsp:nvSpPr>
        <dsp:cNvPr id="0" name=""/>
        <dsp:cNvSpPr/>
      </dsp:nvSpPr>
      <dsp:spPr>
        <a:xfrm>
          <a:off x="6996082" y="57019"/>
          <a:ext cx="3044189" cy="182651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3.Order Performance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/>
          </a:br>
          <a:r>
            <a:rPr lang="en-US" sz="1600" kern="1200"/>
            <a:t>The dataset contained 5,009 unique orders.</a:t>
          </a:r>
          <a:endParaRPr lang="en-US" sz="1800" kern="1200" dirty="0"/>
        </a:p>
      </dsp:txBody>
      <dsp:txXfrm>
        <a:off x="6996082" y="57019"/>
        <a:ext cx="3044189" cy="1826513"/>
      </dsp:txXfrm>
    </dsp:sp>
    <dsp:sp modelId="{A051662F-A125-421C-80DD-C80886188304}">
      <dsp:nvSpPr>
        <dsp:cNvPr id="0" name=""/>
        <dsp:cNvSpPr/>
      </dsp:nvSpPr>
      <dsp:spPr>
        <a:xfrm>
          <a:off x="2008238" y="2224811"/>
          <a:ext cx="3044189" cy="182651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4. Customer Base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500" kern="1200"/>
          </a:br>
          <a:r>
            <a:rPr lang="en-US" sz="1600" kern="1200"/>
            <a:t>The analysis identified 793 unique customers.</a:t>
          </a:r>
          <a:endParaRPr lang="en-US" sz="1500" kern="1200" dirty="0"/>
        </a:p>
      </dsp:txBody>
      <dsp:txXfrm>
        <a:off x="2008238" y="2224811"/>
        <a:ext cx="3044189" cy="1826513"/>
      </dsp:txXfrm>
    </dsp:sp>
    <dsp:sp modelId="{1F269EAA-2F83-448A-BF67-5DEA3505CC06}">
      <dsp:nvSpPr>
        <dsp:cNvPr id="0" name=""/>
        <dsp:cNvSpPr/>
      </dsp:nvSpPr>
      <dsp:spPr>
        <a:xfrm>
          <a:off x="5321777" y="2251305"/>
          <a:ext cx="3044189" cy="180859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5. Category Sales Performance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Technology recorded the highest sales among the three product categories, generating approximately 836.15K.</a:t>
          </a:r>
          <a:endParaRPr lang="en-US" sz="1400" kern="1200" dirty="0"/>
        </a:p>
      </dsp:txBody>
      <dsp:txXfrm>
        <a:off x="5321777" y="2251305"/>
        <a:ext cx="3044189" cy="18085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B109E-9B68-453C-8FC7-0F74110C0EA9}">
      <dsp:nvSpPr>
        <dsp:cNvPr id="0" name=""/>
        <dsp:cNvSpPr/>
      </dsp:nvSpPr>
      <dsp:spPr>
        <a:xfrm>
          <a:off x="143149" y="2119"/>
          <a:ext cx="3091630" cy="185497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rial" panose="020B0604020202020204" pitchFamily="34" charset="0"/>
              <a:cs typeface="Arial" panose="020B0604020202020204" pitchFamily="34" charset="0"/>
            </a:rPr>
            <a:t>6. Technology Profit Performance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Technology generated approximately </a:t>
          </a:r>
          <a:r>
            <a:rPr lang="en-US" sz="1600" b="1" kern="1200">
              <a:latin typeface="Arial" panose="020B0604020202020204" pitchFamily="34" charset="0"/>
              <a:cs typeface="Arial" panose="020B0604020202020204" pitchFamily="34" charset="0"/>
            </a:rPr>
            <a:t>145.45K in profit</a:t>
          </a:r>
          <a:endParaRPr lang="en-US" sz="1600" kern="1200" dirty="0"/>
        </a:p>
      </dsp:txBody>
      <dsp:txXfrm>
        <a:off x="143149" y="2119"/>
        <a:ext cx="3091630" cy="1854978"/>
      </dsp:txXfrm>
    </dsp:sp>
    <dsp:sp modelId="{FD104405-C4F7-4967-BC66-218CC6E8A36B}">
      <dsp:nvSpPr>
        <dsp:cNvPr id="0" name=""/>
        <dsp:cNvSpPr/>
      </dsp:nvSpPr>
      <dsp:spPr>
        <a:xfrm>
          <a:off x="3543943" y="2119"/>
          <a:ext cx="3091630" cy="185497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rial" panose="020B0604020202020204" pitchFamily="34" charset="0"/>
              <a:cs typeface="Arial" panose="020B0604020202020204" pitchFamily="34" charset="0"/>
            </a:rPr>
            <a:t>7. Office Supplies Profit Performance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Office Supplies generated approximately </a:t>
          </a:r>
          <a:r>
            <a:rPr lang="en-US" sz="1600" b="1" kern="1200">
              <a:latin typeface="Arial" panose="020B0604020202020204" pitchFamily="34" charset="0"/>
              <a:cs typeface="Arial" panose="020B0604020202020204" pitchFamily="34" charset="0"/>
            </a:rPr>
            <a:t>122.49K in profit</a:t>
          </a: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43943" y="2119"/>
        <a:ext cx="3091630" cy="1854978"/>
      </dsp:txXfrm>
    </dsp:sp>
    <dsp:sp modelId="{695D80B9-4D72-4460-AFB4-C167673E0D75}">
      <dsp:nvSpPr>
        <dsp:cNvPr id="0" name=""/>
        <dsp:cNvSpPr/>
      </dsp:nvSpPr>
      <dsp:spPr>
        <a:xfrm>
          <a:off x="6944737" y="2119"/>
          <a:ext cx="3091630" cy="185497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rial" panose="020B0604020202020204" pitchFamily="34" charset="0"/>
              <a:cs typeface="Arial" panose="020B0604020202020204" pitchFamily="34" charset="0"/>
            </a:rPr>
            <a:t>8. Furniture Profit Performance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Furniture generated approximately </a:t>
          </a:r>
          <a:r>
            <a:rPr lang="en-US" sz="1600" b="1" kern="1200">
              <a:latin typeface="Arial" panose="020B0604020202020204" pitchFamily="34" charset="0"/>
              <a:cs typeface="Arial" panose="020B0604020202020204" pitchFamily="34" charset="0"/>
            </a:rPr>
            <a:t>18.45K in profit</a:t>
          </a: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, considerably less than the other two categories.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944737" y="2119"/>
        <a:ext cx="3091630" cy="1854978"/>
      </dsp:txXfrm>
    </dsp:sp>
    <dsp:sp modelId="{E51C6FB2-CF87-474F-8936-48D2674FD973}">
      <dsp:nvSpPr>
        <dsp:cNvPr id="0" name=""/>
        <dsp:cNvSpPr/>
      </dsp:nvSpPr>
      <dsp:spPr>
        <a:xfrm>
          <a:off x="1843546" y="2166261"/>
          <a:ext cx="3091630" cy="185497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rial" panose="020B0604020202020204" pitchFamily="34" charset="0"/>
              <a:cs typeface="Arial" panose="020B0604020202020204" pitchFamily="34" charset="0"/>
            </a:rPr>
            <a:t>9. Monthly Sales Performance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November recorded the highest monthly sales, at approximately </a:t>
          </a:r>
          <a:r>
            <a:rPr lang="en-US" sz="1800" b="1" kern="1200">
              <a:latin typeface="Arial" panose="020B0604020202020204" pitchFamily="34" charset="0"/>
              <a:cs typeface="Arial" panose="020B0604020202020204" pitchFamily="34" charset="0"/>
            </a:rPr>
            <a:t>352.46K</a:t>
          </a: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43546" y="2166261"/>
        <a:ext cx="3091630" cy="1854978"/>
      </dsp:txXfrm>
    </dsp:sp>
    <dsp:sp modelId="{65ECB743-6610-456D-8987-8CE1E079AE15}">
      <dsp:nvSpPr>
        <dsp:cNvPr id="0" name=""/>
        <dsp:cNvSpPr/>
      </dsp:nvSpPr>
      <dsp:spPr>
        <a:xfrm>
          <a:off x="5244340" y="2166261"/>
          <a:ext cx="3091630" cy="185497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10. Revenue Growth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Revenue increased by approximately </a:t>
          </a: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20.36% from 2016 to 2017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5244340" y="2166261"/>
        <a:ext cx="3091630" cy="1854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F529-DEBC-4CB6-84D2-49690E9DF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DA732-2800-445E-A43F-640E31194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2E7A2-2C5B-40DC-ACB5-137A9B780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94AE9-10D6-4BD7-A871-D1D11976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94EF1-DF89-47FD-B9F8-F2B2AA62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40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BD2A4-0B05-439E-B405-7468D695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62BCB-0A83-4590-B9F7-BF68B7546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F2DFC-882B-4C1A-9D6B-D08B1DB59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002FE-4910-4BB8-AA24-C96E43B8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D60C5-BD6E-4D26-A0A8-2289A8F6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D018-7FC1-4EB5-BD9F-A7FCF4D19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63EA8-50E9-4F9B-9ECB-2E9289AA8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75542-020F-4CB9-A63F-426E1646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2AC97-8A49-4739-8F62-A3592E13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43AC-62A4-4E14-B548-B5AEF2BA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64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BED0-E210-47E6-A6E3-B7F05775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2084-53CF-4ABA-86AE-B0745B711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D17B6-2531-4517-8846-89A758A68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52F33-3A35-466A-9CB6-CE20EA246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82962-E218-43F5-954A-EAA24402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356FB-F298-4BEE-B233-834E11EB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532C-9FEF-47F2-A5F0-704638FA1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BBA43-A6C3-4E6F-8BF7-D231C768E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BEB6C-D11E-449A-959F-8AC9F0820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F891A-0A0D-43B3-8815-6D0FDCC3D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52577-87BF-4DA8-A90B-62076F391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9F5A30-CF8F-49A8-ABB1-B019F5CAE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DB6ED3-06EC-4B1D-84EC-D015A220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C6A903-B4D0-4D9D-BDB4-196914B4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9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A942-8C98-488A-91B3-A0079A56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461BB-C237-4177-A915-2B046122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49BDA-B9A5-4E7C-B6FE-DA2CAC4D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95E53-75FB-4043-93B4-68FAA2CF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5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3C1A6-D21F-4417-A9BE-86BAE709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1F9AD-1249-4AEB-A830-B2D42AB08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4E6EB-50B6-449A-AF4C-62487150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6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EE73-B64E-4970-849A-1F02D254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64157-7F1B-44D0-943B-3B8707D6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18D96-89AF-4C38-A248-E3FBC0E7F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B4150-A91E-477C-B61A-3795C071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56764-0D72-48B8-9471-F92F1092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375BE-9E74-42EF-82F6-E25EEBB8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9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29CA-3B18-40F8-B760-6A674BC72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FB8A3-BEB5-488A-A222-889368A80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99CD-82E3-4C01-B53E-EB8C285EC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58CB7-22B0-4D35-8C65-FCDEC5A8A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C7406-AEB9-4BD9-B66F-5AF54D5A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C2DC6-A551-49BD-B75F-812DF6D2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3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FA69-0EA9-45A3-949C-5ACE2667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E5CF7-F750-41C8-B0B9-0C587467E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4735B-FF12-4D2F-B389-C3FB83D9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299F0-2B9D-497F-B6C5-E9CF0550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C0E4-06A4-402A-87EB-7B5AA7CE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3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93D5B-37E0-4748-A790-2CBA22FC29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C54AD-525C-489E-9052-65673D6AA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833C3-15BA-47AE-B383-FD667180A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035B3-F38F-4471-8E6C-8F3BC3E7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21A6B-D963-4ABC-A262-049EE5D36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0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1E848-759B-4829-B8F6-84BA7E4C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E152C-B18C-446D-AAEF-7B3C9DD5A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6243-2480-4772-A0AA-706BE7E0E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A7F51-0ACC-45A0-A93E-87B2B84A4B3F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B5AF-0FFB-40EC-BC02-1106D3065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96B7D-CDD8-4DB4-A825-33E759293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87030-2B87-479E-8AA0-B5E49D52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10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DA82-6A46-42FB-B40E-81C0B298F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415" y="968359"/>
            <a:ext cx="10809170" cy="130320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RETAIL SALES &amp; CUSTOMER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4DC51-F7DE-4909-93E3-B2F625AAB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78169"/>
            <a:ext cx="9144000" cy="59574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Final Project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6E6AF3-C8F9-459E-B12F-DDD84CBF6DFC}"/>
              </a:ext>
            </a:extLst>
          </p:cNvPr>
          <p:cNvSpPr txBox="1"/>
          <p:nvPr/>
        </p:nvSpPr>
        <p:spPr>
          <a:xfrm>
            <a:off x="691415" y="3777938"/>
            <a:ext cx="5938788" cy="15696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Sakshi Kulkarni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Internship Organization: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StarCentauri Technologies Pvt. Ltd.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Internship Role: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Data Analytics &amp; Data Science Intern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Tools &amp; Technologies: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Python | SQL | Excel | Power BI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Submission: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Day 15 — Final Project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21 October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D25A4-D53C-445B-904E-6C83AE7D1E57}"/>
              </a:ext>
            </a:extLst>
          </p:cNvPr>
          <p:cNvSpPr/>
          <p:nvPr/>
        </p:nvSpPr>
        <p:spPr>
          <a:xfrm>
            <a:off x="8171848" y="3965608"/>
            <a:ext cx="3099335" cy="19240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utoShape 4" descr="Retail Sales Background Images, HD Pictures and Wallpaper For Free Download  | Pngtree">
            <a:extLst>
              <a:ext uri="{FF2B5EF4-FFF2-40B4-BE49-F238E27FC236}">
                <a16:creationId xmlns:a16="http://schemas.microsoft.com/office/drawing/2014/main" id="{391BC3DB-DBF2-4660-BA6F-E3EC7F5C32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8D8E41-74D5-4EE2-8359-1E79D5B64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688" y="5162933"/>
            <a:ext cx="3935128" cy="145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3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59F1B-1296-40A0-9538-D2BD717C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529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&amp;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1E837-D9A6-4F75-B0E2-0DBF9BFF5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Retail businesses generate large amounts of sales and customer data.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Without proper analysis, identifying sales trends, profitable products, and customer purchasing patterns can be difficult.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Businesses need data-driven insights to understand performance and identify improvement opportunities.</a:t>
            </a:r>
          </a:p>
          <a:p>
            <a:pPr marL="0" indent="0">
              <a:buNone/>
            </a:pPr>
            <a:r>
              <a:rPr lang="en-US" sz="1600" dirty="0"/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Analyze overall sales and profit performance.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Identify top-performing and low-performing products and categories.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Evaluate customer purchasing behavior and spending patterns.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Analyze sales performance across regions and time periods.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Develop an interactive Power BI dashboard to communicate key business insights.</a:t>
            </a:r>
          </a:p>
          <a:p>
            <a:pPr marL="0" indent="0">
              <a:buNone/>
            </a:pPr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37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9BAD4-C712-48D5-9B1F-F3ACA17B7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604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17FC6-3AEC-4C0C-8D92-D2F1D8CDA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5545"/>
            <a:ext cx="10515600" cy="4521418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b="1" dirty="0">
                <a:solidFill>
                  <a:srgbClr val="002060"/>
                </a:solidFill>
              </a:rPr>
              <a:t>Dataset Information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Name: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Retail Sales Dataset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Source: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Kaggle — Superstore Dataset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9,994 rows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 Columns: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21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Transformed Columns: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Data Fields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Order Date and Ship Date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Customer Name and Customer Segment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Product Name, Category, and Sub-Category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Sales, Quantity, Discount, and Profit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Region, State, and City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Purpose of the Dataset</a:t>
            </a:r>
            <a:endParaRPr lang="en-US" sz="2000" dirty="0">
              <a:solidFill>
                <a:srgbClr val="002060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/>
              <a:t>The dataset contains retail transaction, customer, product, sales, and profit information. It was used to analyze business performance, identify product trends, and understand customer purchasing behavior.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90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6AEC3DC-1F78-485F-877C-195D4BFDCD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547079"/>
              </p:ext>
            </p:extLst>
          </p:nvPr>
        </p:nvGraphicFramePr>
        <p:xfrm>
          <a:off x="299454" y="1679613"/>
          <a:ext cx="5523831" cy="4321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itle 13">
            <a:extLst>
              <a:ext uri="{FF2B5EF4-FFF2-40B4-BE49-F238E27FC236}">
                <a16:creationId xmlns:a16="http://schemas.microsoft.com/office/drawing/2014/main" id="{C361B05E-F17D-43C5-A868-3AB4E2BF9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604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 &amp; EDA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EB9076EF-5FDE-4D7B-83E9-D4971C5E51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526474"/>
              </p:ext>
            </p:extLst>
          </p:nvPr>
        </p:nvGraphicFramePr>
        <p:xfrm>
          <a:off x="6535019" y="1679613"/>
          <a:ext cx="5523831" cy="4321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7BE0CC9-62E6-485B-9DBC-878A82A31AB7}"/>
              </a:ext>
            </a:extLst>
          </p:cNvPr>
          <p:cNvSpPr txBox="1"/>
          <p:nvPr/>
        </p:nvSpPr>
        <p:spPr>
          <a:xfrm>
            <a:off x="4010527" y="6001355"/>
            <a:ext cx="4716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Key Tools</a:t>
            </a: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Python | Pandas | NumPy | Matplotlib</a:t>
            </a:r>
          </a:p>
        </p:txBody>
      </p:sp>
    </p:spTree>
    <p:extLst>
      <p:ext uri="{BB962C8B-B14F-4D97-AF65-F5344CB8AC3E}">
        <p14:creationId xmlns:p14="http://schemas.microsoft.com/office/powerpoint/2010/main" val="123668687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8098-E96C-4BB3-BF59-1E8D74C7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27"/>
            <a:ext cx="10515600" cy="124548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KPIs &amp;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C53D9-ED27-4A9F-8063-C7CDBA571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Analytical Areas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3E023-7574-4BC6-9ADF-9B13840172A8}"/>
              </a:ext>
            </a:extLst>
          </p:cNvPr>
          <p:cNvSpPr/>
          <p:nvPr/>
        </p:nvSpPr>
        <p:spPr>
          <a:xfrm>
            <a:off x="1087654" y="1491040"/>
            <a:ext cx="2174508" cy="9336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C48F9-0B40-4467-BA2C-9130D84271F0}"/>
              </a:ext>
            </a:extLst>
          </p:cNvPr>
          <p:cNvSpPr/>
          <p:nvPr/>
        </p:nvSpPr>
        <p:spPr>
          <a:xfrm>
            <a:off x="3872565" y="1485028"/>
            <a:ext cx="2174508" cy="93365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AF541A-8FDC-430D-86A8-43F7F5E00D7E}"/>
              </a:ext>
            </a:extLst>
          </p:cNvPr>
          <p:cNvSpPr/>
          <p:nvPr/>
        </p:nvSpPr>
        <p:spPr>
          <a:xfrm>
            <a:off x="6719238" y="1491235"/>
            <a:ext cx="2002054" cy="9336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C6C54-90E6-4552-8A5B-8C052575DE62}"/>
              </a:ext>
            </a:extLst>
          </p:cNvPr>
          <p:cNvSpPr/>
          <p:nvPr/>
        </p:nvSpPr>
        <p:spPr>
          <a:xfrm>
            <a:off x="9208672" y="1454534"/>
            <a:ext cx="2002054" cy="9336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AA1C3-A27E-408F-8CF0-474B1CF8AB1E}"/>
              </a:ext>
            </a:extLst>
          </p:cNvPr>
          <p:cNvSpPr txBox="1"/>
          <p:nvPr/>
        </p:nvSpPr>
        <p:spPr>
          <a:xfrm>
            <a:off x="1417319" y="1582805"/>
            <a:ext cx="1578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Total Sales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9AFC07-5AB3-4E46-8FF7-7DD94AC2A265}"/>
              </a:ext>
            </a:extLst>
          </p:cNvPr>
          <p:cNvSpPr txBox="1"/>
          <p:nvPr/>
        </p:nvSpPr>
        <p:spPr>
          <a:xfrm>
            <a:off x="4261986" y="1585551"/>
            <a:ext cx="1395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Total Profit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47AB4-DBDD-4B5E-B2C2-626F8214F3F0}"/>
              </a:ext>
            </a:extLst>
          </p:cNvPr>
          <p:cNvSpPr txBox="1"/>
          <p:nvPr/>
        </p:nvSpPr>
        <p:spPr>
          <a:xfrm>
            <a:off x="6930041" y="1588880"/>
            <a:ext cx="1395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Total Orders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1E64C-E8BB-45AE-96C0-354A3AAD8B3B}"/>
              </a:ext>
            </a:extLst>
          </p:cNvPr>
          <p:cNvSpPr txBox="1"/>
          <p:nvPr/>
        </p:nvSpPr>
        <p:spPr>
          <a:xfrm>
            <a:off x="9208672" y="1523375"/>
            <a:ext cx="2117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Unique Customers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B2BEB9-771F-4E0A-850A-B3964EE792A7}"/>
              </a:ext>
            </a:extLst>
          </p:cNvPr>
          <p:cNvSpPr txBox="1"/>
          <p:nvPr/>
        </p:nvSpPr>
        <p:spPr>
          <a:xfrm>
            <a:off x="4343802" y="1828371"/>
            <a:ext cx="1232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286.40K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DDE08-2D4C-497D-AA40-1B33AF1D015B}"/>
              </a:ext>
            </a:extLst>
          </p:cNvPr>
          <p:cNvSpPr txBox="1"/>
          <p:nvPr/>
        </p:nvSpPr>
        <p:spPr>
          <a:xfrm>
            <a:off x="7217195" y="1811813"/>
            <a:ext cx="92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5,009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4703F8-0217-429C-A450-E960735ADBAB}"/>
              </a:ext>
            </a:extLst>
          </p:cNvPr>
          <p:cNvSpPr txBox="1"/>
          <p:nvPr/>
        </p:nvSpPr>
        <p:spPr>
          <a:xfrm>
            <a:off x="9759718" y="1796811"/>
            <a:ext cx="899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793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87E00B-6051-4623-A52C-6D1AA531E910}"/>
              </a:ext>
            </a:extLst>
          </p:cNvPr>
          <p:cNvSpPr txBox="1"/>
          <p:nvPr/>
        </p:nvSpPr>
        <p:spPr>
          <a:xfrm>
            <a:off x="1381225" y="1847483"/>
            <a:ext cx="1491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2.30M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E90C14B-7150-4544-84E1-C72CD905E6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6189621"/>
              </p:ext>
            </p:extLst>
          </p:nvPr>
        </p:nvGraphicFramePr>
        <p:xfrm>
          <a:off x="1038381" y="3229911"/>
          <a:ext cx="7653887" cy="3262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9B9AA370-9333-4727-AF55-484B3DC423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741" y="5334625"/>
            <a:ext cx="3153878" cy="169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59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EAB7-C8E1-40AB-AD5D-4A863E7E0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Power BI Dashboard &amp; Key Insights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6A726B-F8EF-4F9F-BB6E-65ACEC13E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Power BI Dashboard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656E21-9C60-4ADC-B589-DA4AC041E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" t="-1227" r="3068" b="3371"/>
          <a:stretch/>
        </p:blipFill>
        <p:spPr>
          <a:xfrm>
            <a:off x="2030931" y="2336483"/>
            <a:ext cx="8422105" cy="384048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24085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31EE-7535-4915-B378-5CE5F2700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Business Insights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C4DE165-298C-4EFE-9BF0-33F798719D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4737296"/>
              </p:ext>
            </p:extLst>
          </p:nvPr>
        </p:nvGraphicFramePr>
        <p:xfrm>
          <a:off x="701040" y="1992430"/>
          <a:ext cx="10339137" cy="4071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3609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E0AC-7792-4E16-AF39-5F00EA7F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 Business Insights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A5154BB-43BA-46CC-AC53-03ADDD5083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1680086"/>
              </p:ext>
            </p:extLst>
          </p:nvPr>
        </p:nvGraphicFramePr>
        <p:xfrm>
          <a:off x="1174282" y="1992430"/>
          <a:ext cx="10179518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9295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7F5E-C81C-4A34-A5B1-BFA812B7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4CC3A-28CF-4F7E-BE6E-8D76B0CEC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Analyzed retail sales, profit, and customer performance using Python, SQL, and Power BI.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Identified sales patterns across product categories, regions, and time periods.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Evaluated customer purchasing behaviour and product performance.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Developed an interactive dashboard to present key business metrics and findings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  <a:endParaRPr lang="en-US"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Develop sales forecasting models using historical sales data.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Conduct deeper customer segmentation and retention analysis.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Investigate opportunities to improve product profitability.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Enhance the dashboard with additional KPIs and predictive analytics.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595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</TotalTime>
  <Words>661</Words>
  <Application>Microsoft Office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RETAIL SALES &amp; CUSTOMER PERFORMANCE ANALYSIS</vt:lpstr>
      <vt:lpstr>Business Problem &amp; Project Objectives</vt:lpstr>
      <vt:lpstr>Dataset Overview</vt:lpstr>
      <vt:lpstr>Data Cleaning &amp; EDA</vt:lpstr>
      <vt:lpstr>KPIs &amp; VISUALIZATIONS</vt:lpstr>
      <vt:lpstr>Power BI Dashboard &amp; Key Insights</vt:lpstr>
      <vt:lpstr>Key Business Insights</vt:lpstr>
      <vt:lpstr>Additional Business Insights</vt:lpstr>
      <vt:lpstr>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&amp; CUSTOMER PERFORMANCE ANALYSIS</dc:title>
  <dc:creator>Sakshi Kulkarni</dc:creator>
  <cp:lastModifiedBy>Sakshi Kulkarni</cp:lastModifiedBy>
  <cp:revision>29</cp:revision>
  <dcterms:created xsi:type="dcterms:W3CDTF">2026-10-21T09:32:12Z</dcterms:created>
  <dcterms:modified xsi:type="dcterms:W3CDTF">2026-10-24T18:16:29Z</dcterms:modified>
</cp:coreProperties>
</file>